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1A5276"/>
                </a:solidFill>
              </a:rPr>
              <a:t>PneumoFusionNet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B2B49"/>
                </a:solidFill>
              </a:rPr>
              <a:t>Part 2: Image + Report Text + WBC Fusion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555555"/>
                </a:solidFill>
              </a:rPr>
              <a:t>Detecting Pneumonia Using Chest X-Ray, Radiology Reports, and a Single Blood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3291840"/>
            <a:ext cx="4846320" cy="18288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2B49"/>
                </a:solidFill>
              </a:rPr>
              <a:t>Ashutosh Yadav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55555"/>
                </a:solidFill>
              </a:rPr>
              <a:t>Roll Number: 23035010693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805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555555"/>
                </a:solidFill>
              </a:rPr>
              <a:t>B.Sc. (Hons.) Data Science &amp; Artificial Intelligence
Indian Institute of Technology Guwahati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2120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555"/>
                </a:solidFill>
              </a:rPr>
              <a:t>Trimester 8 Term Project  |  September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Where Part 1 Left 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</a:rPr>
              <a:t>Ashutosh Yadav  |  23035010693  |  IIT Guwahati  |  Trimester 8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400800"/>
            <a:ext cx="11612880" cy="1371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486400" cy="2286000"/>
          </a:xfrm>
          <a:prstGeom prst="rect">
            <a:avLst/>
          </a:prstGeom>
          <a:solidFill>
            <a:srgbClr val="F0F4F8"/>
          </a:solidFill>
          <a:ln w="1905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5276"/>
                </a:solidFill>
              </a:rPr>
              <a:t>What Part 1 Achieved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1B2B49"/>
                </a:solidFill>
              </a:rPr>
              <a:t>- Architecture: DenseNet-121 + CBAM attention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B2B49"/>
                </a:solidFill>
              </a:rPr>
              <a:t>- Data: MIMIC-CXR PA-view, 1,989 images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B2B49"/>
                </a:solidFill>
              </a:rPr>
              <a:t>- Best AUC: 0.826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B2B49"/>
                </a:solidFill>
              </a:rPr>
              <a:t>- Sensitivity: 71.0%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566160"/>
            <a:ext cx="5486400" cy="2286000"/>
          </a:xfrm>
          <a:prstGeom prst="rect">
            <a:avLst/>
          </a:prstGeom>
          <a:solidFill>
            <a:srgbClr val="FDF0F0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</a:rPr>
              <a:t>Why It Stopped Improving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6908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1B2B49"/>
                </a:solidFill>
              </a:rPr>
              <a:t>- The X-ray only shows what the lung looks like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B2B49"/>
                </a:solidFill>
              </a:rPr>
              <a:t>- It cannot show fever, infection signs, or history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B2B49"/>
                </a:solidFill>
              </a:rPr>
              <a:t>- Every real doctor uses these to decide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B2B49"/>
                </a:solidFill>
              </a:rPr>
              <a:t>- Our model was missing this information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5486400" cy="4754880"/>
          </a:xfrm>
          <a:prstGeom prst="rect">
            <a:avLst/>
          </a:prstGeom>
          <a:solidFill>
            <a:srgbClr val="F0F4F8"/>
          </a:solidFill>
          <a:ln w="1905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1887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5276"/>
                </a:solidFill>
              </a:rPr>
              <a:t>Part 2 Roadmap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737360"/>
            <a:ext cx="1188720" cy="658368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810512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Phase 1 (Part 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1783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2B49"/>
                </a:solidFill>
              </a:rPr>
              <a:t>X-ray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5555"/>
                </a:solidFill>
              </a:rPr>
              <a:t>AUC 0.826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237743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55555"/>
                </a:solidFill>
              </a:rPr>
              <a:t>|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697480"/>
            <a:ext cx="1188720" cy="6583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770632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2743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2B49"/>
                </a:solidFill>
              </a:rPr>
              <a:t>X-ray + Report 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3063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AUC 0.949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33375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55555"/>
                </a:solidFill>
              </a:rPr>
              <a:t>|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657600"/>
            <a:ext cx="1188720" cy="6583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730752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Phase 3c (main)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3703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2B49"/>
                </a:solidFill>
              </a:rPr>
              <a:t>X-ray + Text + WBC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4023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AUC 0.971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42976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55555"/>
                </a:solidFill>
              </a:rPr>
              <a:t>|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617720"/>
            <a:ext cx="1188720" cy="658368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4690872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Next phase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79" y="4663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2B49"/>
                </a:solidFill>
              </a:rPr>
              <a:t>Indian hospital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79" y="4983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276"/>
                </a:solidFill>
              </a:rPr>
              <a:t>Planned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Anti-Leakage Rule  -  No IMPRESSION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</a:rPr>
              <a:t>Ashutosh Yadav  |  23035010693  |  IIT Guwahati  |  Trimester 8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400800"/>
            <a:ext cx="11612880" cy="1371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10698480" cy="3017520"/>
          </a:xfrm>
          <a:prstGeom prst="rect">
            <a:avLst/>
          </a:prstGeom>
          <a:solidFill>
            <a:srgbClr val="F8F8F8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1887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2B49"/>
                </a:solidFill>
              </a:rPr>
              <a:t>Example Radiology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276"/>
                </a:solidFill>
              </a:rPr>
              <a:t>FINDINGS: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69164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2B49"/>
                </a:solidFill>
              </a:rPr>
              <a:t>Increased opacity in the right lower lobe.
Mild blunting of the costophrenic angle.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276"/>
                </a:solidFill>
              </a:rPr>
              <a:t>HISTORY: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46888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2B49"/>
                </a:solidFill>
              </a:rPr>
              <a:t>65-year-old male, fever 3 days, cough.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46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276"/>
                </a:solidFill>
              </a:rPr>
              <a:t>IMPRESSION: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324612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392B"/>
                </a:solidFill>
              </a:rPr>
              <a:t>PNEUMONIA  -  right lower lobe consolidation.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297680"/>
            <a:ext cx="5120640" cy="640080"/>
          </a:xfrm>
          <a:prstGeom prst="rect">
            <a:avLst/>
          </a:prstGeom>
          <a:solidFill>
            <a:srgbClr val="E8F8E8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0740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7AE60"/>
                </a:solidFill>
              </a:rPr>
              <a:t>We use:  FINDINGS + HISTORY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4297680"/>
            <a:ext cx="5303520" cy="640080"/>
          </a:xfrm>
          <a:prstGeom prst="rect">
            <a:avLst/>
          </a:prstGeom>
          <a:solidFill>
            <a:srgbClr val="FDE8E8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44074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</a:rPr>
              <a:t>We strip:  IMPRESSION (the diagnosis)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20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E67E22"/>
                </a:solidFill>
              </a:rPr>
              <a:t>If the model reads IMPRESSION, it memorises the answer instead of learning to diagnose.
Most published multimodal papers make this mistake.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Phase 2  -  Adding the Radiology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</a:rPr>
              <a:t>Ashutosh Yadav  |  23035010693  |  IIT Guwahati  |  Trimester 8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400800"/>
            <a:ext cx="11612880" cy="1371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486400" cy="1828800"/>
          </a:xfrm>
          <a:prstGeom prst="rect">
            <a:avLst/>
          </a:prstGeom>
          <a:solidFill>
            <a:srgbClr val="FDF0F0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7043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7E22"/>
                </a:solidFill>
              </a:rPr>
              <a:t>Version 1 (baseline concat)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1B2B49"/>
                </a:solidFill>
              </a:rPr>
              <a:t>Image features + BERT [CLS] token, concatenated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B2B49"/>
                </a:solidFill>
              </a:rPr>
              <a:t>AUC: 0.911  |  Sensitivity: 80.6%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B2B49"/>
                </a:solidFill>
              </a:rPr>
              <a:t>Problem: mostly just improved Normal detection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08960"/>
            <a:ext cx="5486400" cy="2011680"/>
          </a:xfrm>
          <a:prstGeom prst="rect">
            <a:avLst/>
          </a:prstGeom>
          <a:solidFill>
            <a:srgbClr val="E8F8E8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18211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7AE60"/>
                </a:solidFill>
              </a:rPr>
              <a:t>Version 2 (cross-attention)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6616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1B2B49"/>
                </a:solidFill>
              </a:rPr>
              <a:t>Image features query every BERT token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B2B49"/>
                </a:solidFill>
              </a:rPr>
              <a:t>8-head cross-attention  -&gt;  512-d vector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B2B49"/>
                </a:solidFill>
              </a:rPr>
              <a:t>AUC: 0.949  |  Sensitivity: 91.4%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B2B49"/>
                </a:solidFill>
              </a:rPr>
              <a:t>Catches 9 in 10 pneumonia patients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5486400" cy="4114800"/>
          </a:xfrm>
          <a:prstGeom prst="rect">
            <a:avLst/>
          </a:prstGeom>
          <a:solidFill>
            <a:srgbClr val="F0F4F8"/>
          </a:solidFill>
          <a:ln w="1905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17043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5276"/>
                </a:solidFill>
              </a:rPr>
              <a:t>7 Changes: v1 -&gt; v2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572768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2B49"/>
                </a:solidFill>
              </a:rPr>
              <a:t>1. Text: FINDINGS only -&gt; FINDINGS + 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48256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2B49"/>
                </a:solidFill>
              </a:rPr>
              <a:t>2. BERT: frozen -&gt; last 2 layers unfrozen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523744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2B49"/>
                </a:solidFill>
              </a:rPr>
              <a:t>3. Fusion: concat -&gt; 8-head cross-attention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999232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2B49"/>
                </a:solidFill>
              </a:rPr>
              <a:t>4. Loss: CrossEntropy -&gt; Focal Loss (gamma=2)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47472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2B49"/>
                </a:solidFill>
              </a:rPr>
              <a:t>5. Augmentation: added Mixup on embeddings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950208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2B49"/>
                </a:solidFill>
              </a:rPr>
              <a:t>6. LR: single -&gt; separate (BERT 1e-5, head 2e-4)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425696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2B49"/>
                </a:solidFill>
              </a:rPr>
              <a:t>7. Added Grad-CAM for explainability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How Cross-Attention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</a:rPr>
              <a:t>Ashutosh Yadav  |  23035010693  |  IIT Guwahati  |  Trimester 8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400800"/>
            <a:ext cx="11612880" cy="1371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4572000" cy="822960"/>
          </a:xfrm>
          <a:prstGeom prst="rect">
            <a:avLst/>
          </a:prstGeom>
          <a:solidFill>
            <a:srgbClr val="E0EEF8"/>
          </a:solidFill>
          <a:ln w="1905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5276"/>
                </a:solidFill>
              </a:rPr>
              <a:t>Image features (1024-d)  -&gt;  Query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572000" cy="822960"/>
          </a:xfrm>
          <a:prstGeom prst="rect">
            <a:avLst/>
          </a:prstGeom>
          <a:solidFill>
            <a:srgbClr val="E0EEF8"/>
          </a:solidFill>
          <a:ln w="1905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132588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5276"/>
                </a:solidFill>
              </a:rPr>
              <a:t>Report tokens (768-d x N)  -&gt;  Key, Value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2286000"/>
            <a:ext cx="9418320" cy="1645920"/>
          </a:xfrm>
          <a:prstGeom prst="rect">
            <a:avLst/>
          </a:prstGeom>
          <a:solidFill>
            <a:srgbClr val="F5F5F5"/>
          </a:solidFill>
          <a:ln w="19050">
            <a:solidFill>
              <a:srgbClr val="1B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2423160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2B49"/>
                </a:solidFill>
              </a:rPr>
              <a:t>Score = Q x K^T / sqrt(64)  -&gt;  softmax  -&gt;  weighted sum of 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926080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555555"/>
                </a:solidFill>
              </a:rPr>
              <a:t>"Which words in the report match what the image is showing?"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383280"/>
            <a:ext cx="9052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</a:rPr>
              <a:t>Output: 512-d attended text vector (image-anchored summary)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297680"/>
            <a:ext cx="3566160" cy="1645920"/>
          </a:xfrm>
          <a:prstGeom prst="rect">
            <a:avLst/>
          </a:prstGeom>
          <a:solidFill>
            <a:srgbClr val="F0F4F8"/>
          </a:solidFill>
          <a:ln w="1905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3891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5276"/>
                </a:solidFill>
              </a:rPr>
              <a:t>8 heads in parallel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006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B2B49"/>
                </a:solidFill>
              </a:rPr>
              <a:t>Each head looks at
different aspects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4297680"/>
            <a:ext cx="3566160" cy="1645920"/>
          </a:xfrm>
          <a:prstGeom prst="rect">
            <a:avLst/>
          </a:prstGeom>
          <a:solidFill>
            <a:srgbClr val="F0F4F8"/>
          </a:solidFill>
          <a:ln w="1905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43891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5276"/>
                </a:solidFill>
              </a:rPr>
              <a:t>Image is the Query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48006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B2B49"/>
                </a:solidFill>
              </a:rPr>
              <a:t>It searches the report
for relevant info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4297680"/>
            <a:ext cx="3566160" cy="1645920"/>
          </a:xfrm>
          <a:prstGeom prst="rect">
            <a:avLst/>
          </a:prstGeom>
          <a:solidFill>
            <a:srgbClr val="F0F4F8"/>
          </a:solidFill>
          <a:ln w="1905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43891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5276"/>
                </a:solidFill>
              </a:rPr>
              <a:t>All tokens used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48006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B2B49"/>
                </a:solidFill>
              </a:rPr>
              <a:t>Not just the [CLS]
summary token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Phase 2 Results  -  Text Adds +12% AUC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</a:rPr>
              <a:t>Ashutosh Yadav  |  23035010693  |  IIT Guwahati  |  Trimester 8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400800"/>
            <a:ext cx="11612880" cy="1371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188720"/>
          <a:ext cx="106984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AUC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Sensitivity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Specificity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B49"/>
                          </a:solidFill>
                        </a:rPr>
                        <a:t>Phase 1 (image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B49"/>
                          </a:solidFill>
                        </a:rPr>
                        <a:t>0.826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B49"/>
                          </a:solidFill>
                        </a:rPr>
                        <a:t>71.0%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B49"/>
                          </a:solidFill>
                        </a:rPr>
                        <a:t> -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B49"/>
                          </a:solidFill>
                        </a:rPr>
                        <a:t>76.3%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B49"/>
                          </a:solidFill>
                        </a:rPr>
                        <a:t>Phase 2v1 (concat)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B49"/>
                          </a:solidFill>
                        </a:rPr>
                        <a:t>0.911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B49"/>
                          </a:solidFill>
                        </a:rPr>
                        <a:t>80.6%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B49"/>
                          </a:solidFill>
                        </a:rPr>
                        <a:t>89.4%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B49"/>
                          </a:solidFill>
                        </a:rPr>
                        <a:t>85.3%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2B49"/>
                          </a:solidFill>
                        </a:rPr>
                        <a:t>Phase 2v2 (cross-attn)</a:t>
                      </a:r>
                    </a:p>
                  </a:txBody>
                  <a:tcPr>
                    <a:solidFill>
                      <a:srgbClr val="E8F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2B49"/>
                          </a:solidFill>
                        </a:rPr>
                        <a:t>0.949</a:t>
                      </a:r>
                    </a:p>
                  </a:txBody>
                  <a:tcPr>
                    <a:solidFill>
                      <a:srgbClr val="E8F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2B49"/>
                          </a:solidFill>
                        </a:rPr>
                        <a:t>91.4%</a:t>
                      </a:r>
                    </a:p>
                  </a:txBody>
                  <a:tcPr>
                    <a:solidFill>
                      <a:srgbClr val="E8F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2B49"/>
                          </a:solidFill>
                        </a:rPr>
                        <a:t>86.3%</a:t>
                      </a:r>
                    </a:p>
                  </a:txBody>
                  <a:tcPr>
                    <a:solidFill>
                      <a:srgbClr val="E8F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2B49"/>
                          </a:solidFill>
                        </a:rPr>
                        <a:t>88.6%</a:t>
                      </a:r>
                    </a:p>
                  </a:txBody>
                  <a:tcPr>
                    <a:solidFill>
                      <a:srgbClr val="E8F8E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B49"/>
                          </a:solidFill>
                        </a:rPr>
                        <a:t>Scale-up (3,763 imgs)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B49"/>
                          </a:solidFill>
                        </a:rPr>
                        <a:t>0.946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B49"/>
                          </a:solidFill>
                        </a:rPr>
                        <a:t>90.3%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B49"/>
                          </a:solidFill>
                        </a:rPr>
                        <a:t>89.1%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B49"/>
                          </a:solidFill>
                        </a:rPr>
                        <a:t>87.8%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31520" y="3931920"/>
            <a:ext cx="3474720" cy="1554480"/>
          </a:xfrm>
          <a:prstGeom prst="rect">
            <a:avLst/>
          </a:prstGeom>
          <a:solidFill>
            <a:srgbClr val="E8F8E8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0233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7AE60"/>
                </a:solidFill>
              </a:rPr>
              <a:t>+12.3%
AUC gain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846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B2B49"/>
                </a:solidFill>
              </a:rPr>
              <a:t>over image-only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3931920"/>
            <a:ext cx="3474720" cy="1554480"/>
          </a:xfrm>
          <a:prstGeom prst="rect">
            <a:avLst/>
          </a:prstGeom>
          <a:solidFill>
            <a:srgbClr val="E8F8E8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40233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7AE60"/>
                </a:solidFill>
              </a:rPr>
              <a:t>91.4%
Sensitivity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4846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B2B49"/>
                </a:solidFill>
              </a:rPr>
              <a:t>9 in 10 caught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3931920"/>
            <a:ext cx="3474720" cy="1554480"/>
          </a:xfrm>
          <a:prstGeom prst="rect">
            <a:avLst/>
          </a:prstGeom>
          <a:solidFill>
            <a:srgbClr val="E8F8E8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40233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7AE60"/>
                </a:solidFill>
              </a:rPr>
              <a:t>0.946
on scale-up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4846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B2B49"/>
                </a:solidFill>
              </a:rPr>
              <a:t>AUC drops only 0.003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Phase 3c  -  Adding WBC (Main Model)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</a:rPr>
              <a:t>Ashutosh Yadav  |  23035010693  |  IIT Guwahati  |  Trimester 8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400800"/>
            <a:ext cx="11612880" cy="1371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3657600" cy="2194560"/>
          </a:xfrm>
          <a:prstGeom prst="rect">
            <a:avLst/>
          </a:prstGeom>
          <a:solidFill>
            <a:srgbClr val="E0EEF8"/>
          </a:solidFill>
          <a:ln w="1905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7043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5276"/>
                </a:solidFill>
              </a:rPr>
              <a:t>Image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B2B49"/>
                </a:solidFill>
              </a:rPr>
              <a:t>CXR Image (PA)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B2B49"/>
                </a:solidFill>
              </a:rPr>
              <a:t>DenseNet-121 + CBAM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6032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B2B49"/>
                </a:solidFill>
              </a:rPr>
              <a:t>1024-d (frozen)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097280"/>
            <a:ext cx="3657600" cy="2194560"/>
          </a:xfrm>
          <a:prstGeom prst="rect">
            <a:avLst/>
          </a:prstGeom>
          <a:solidFill>
            <a:srgbClr val="E0F4EE"/>
          </a:solidFill>
          <a:ln w="1905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17043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5276"/>
                </a:solidFill>
              </a:rPr>
              <a:t>Report Branch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55448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B2B49"/>
                </a:solidFill>
              </a:rPr>
              <a:t>Report 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05740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B2B49"/>
                </a:solidFill>
              </a:rPr>
              <a:t>Bio_ClinicalBERT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56032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B2B49"/>
                </a:solidFill>
              </a:rPr>
              <a:t>768-d tokens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1097280"/>
            <a:ext cx="3657600" cy="2194560"/>
          </a:xfrm>
          <a:prstGeom prst="rect">
            <a:avLst/>
          </a:prstGeom>
          <a:solidFill>
            <a:srgbClr val="F0E8F8"/>
          </a:solidFill>
          <a:ln w="1905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17043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5276"/>
                </a:solidFill>
              </a:rPr>
              <a:t>WBC Branch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155448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B2B49"/>
                </a:solidFill>
              </a:rPr>
              <a:t>WBC count (CBC)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05740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B2B49"/>
                </a:solidFill>
              </a:rPr>
              <a:t>MLP 1-&gt;128-&gt;128-&gt;64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56032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B2B49"/>
                </a:solidFill>
              </a:rPr>
              <a:t>64-d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520440"/>
            <a:ext cx="7589520" cy="594360"/>
          </a:xfrm>
          <a:prstGeom prst="rect">
            <a:avLst/>
          </a:prstGeom>
          <a:solidFill>
            <a:srgbClr val="FEF3E0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611880"/>
            <a:ext cx="7223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67E22"/>
                </a:solidFill>
              </a:rPr>
              <a:t>Cross-Attention -&gt; 512-d  (image queries report tokens)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297680"/>
            <a:ext cx="11247120" cy="594360"/>
          </a:xfrm>
          <a:prstGeom prst="rect">
            <a:avLst/>
          </a:prstGeom>
          <a:solidFill>
            <a:srgbClr val="F0F4F8"/>
          </a:solidFill>
          <a:ln w="1905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3891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5276"/>
                </a:solidFill>
              </a:rPr>
              <a:t>concat [ 1024 + 512 + 64 = 1600-d 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074920"/>
            <a:ext cx="11247120" cy="594360"/>
          </a:xfrm>
          <a:prstGeom prst="rect">
            <a:avLst/>
          </a:prstGeom>
          <a:solidFill>
            <a:srgbClr val="E8F8E8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16636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7AE60"/>
                </a:solidFill>
              </a:rPr>
              <a:t>MLP 1600 -&gt; 512 -&gt; 128 -&gt; 2  -&gt;  Normal / Pneumonia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0" y="3520440"/>
            <a:ext cx="3291840" cy="1417320"/>
          </a:xfrm>
          <a:prstGeom prst="rect">
            <a:avLst/>
          </a:prstGeom>
          <a:solidFill>
            <a:srgbClr val="F0E8F8"/>
          </a:solidFill>
          <a:ln w="19050">
            <a:solidFill>
              <a:srgbClr val="6C3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9640" y="35661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3E9E"/>
                </a:solidFill>
              </a:rPr>
              <a:t>Why WBC?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38404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1B2B49"/>
                </a:solidFill>
              </a:rPr>
              <a:t>From routine CBC blood test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B2B49"/>
                </a:solidFill>
              </a:rPr>
              <a:t>Ready in 15 min of arrival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B2B49"/>
                </a:solidFill>
              </a:rPr>
              <a:t>&gt; 11,000/uL -&gt; infection likely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Phase 3c Results  -  AUC 0.971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</a:rPr>
              <a:t>Ashutosh Yadav  |  23035010693  |  IIT Guwahati  |  Trimester 8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400800"/>
            <a:ext cx="11612880" cy="1371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2697480" cy="1371600"/>
          </a:xfrm>
          <a:prstGeom prst="rect">
            <a:avLst/>
          </a:prstGeom>
          <a:solidFill>
            <a:srgbClr val="E8F8E8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7AE60"/>
                </a:solidFill>
              </a:rPr>
              <a:t>0.971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B2B49"/>
                </a:solidFill>
              </a:rPr>
              <a:t>AUC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097280"/>
            <a:ext cx="2697480" cy="1371600"/>
          </a:xfrm>
          <a:prstGeom prst="rect">
            <a:avLst/>
          </a:prstGeom>
          <a:solidFill>
            <a:srgbClr val="E8F8E8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188720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7AE60"/>
                </a:solidFill>
              </a:rPr>
              <a:t>92.3%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92024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B2B49"/>
                </a:solidFill>
              </a:rPr>
              <a:t>Sensitivity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2697480" cy="1371600"/>
          </a:xfrm>
          <a:prstGeom prst="rect">
            <a:avLst/>
          </a:prstGeom>
          <a:solidFill>
            <a:srgbClr val="E8F8E8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1188720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7AE60"/>
                </a:solidFill>
              </a:rPr>
              <a:t>93.6%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192024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B2B49"/>
                </a:solidFill>
              </a:rPr>
              <a:t>Specificity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98280" y="1097280"/>
            <a:ext cx="2697480" cy="1371600"/>
          </a:xfrm>
          <a:prstGeom prst="rect">
            <a:avLst/>
          </a:prstGeom>
          <a:solidFill>
            <a:srgbClr val="E8F8E8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19" y="1188720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7AE60"/>
                </a:solidFill>
              </a:rPr>
              <a:t>92.9%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19" y="192024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B2B49"/>
                </a:solidFill>
              </a:rPr>
              <a:t>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6060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</a:rPr>
              <a:t>Test set: 565 patients  |  MIMIC-CXR 3,763-image scale-up  |  Youden-J threshold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063240"/>
            <a:ext cx="5486400" cy="548640"/>
          </a:xfrm>
          <a:prstGeom prst="rect">
            <a:avLst/>
          </a:prstGeom>
          <a:solidFill>
            <a:srgbClr val="E8F8E8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1546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</a:rPr>
              <a:t>+2.5% AUC over text-only Phase 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063240"/>
            <a:ext cx="5486400" cy="548640"/>
          </a:xfrm>
          <a:prstGeom prst="rect">
            <a:avLst/>
          </a:prstGeom>
          <a:solidFill>
            <a:srgbClr val="E8F8E8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1546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</a:rPr>
              <a:t>+5.7% Sensitivity  |  +4.5% Specificity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276"/>
                </a:solidFill>
              </a:rPr>
              <a:t>Decision Threshold Options: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457200" y="4206240"/>
          <a:ext cx="1124712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Threshold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Sensitivity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Specificity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B49"/>
                          </a:solidFill>
                        </a:rPr>
                        <a:t>Default (0.50)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B49"/>
                          </a:solidFill>
                        </a:rPr>
                        <a:t>92.4%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B49"/>
                          </a:solidFill>
                        </a:rPr>
                        <a:t>94.7%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B49"/>
                          </a:solidFill>
                        </a:rPr>
                        <a:t>90.0%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2B49"/>
                          </a:solidFill>
                        </a:rPr>
                        <a:t>Best-balance (0.559)</a:t>
                      </a:r>
                    </a:p>
                  </a:txBody>
                  <a:tcPr>
                    <a:solidFill>
                      <a:srgbClr val="E8F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2B49"/>
                          </a:solidFill>
                        </a:rPr>
                        <a:t>92.9%</a:t>
                      </a:r>
                    </a:p>
                  </a:txBody>
                  <a:tcPr>
                    <a:solidFill>
                      <a:srgbClr val="E8F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2B49"/>
                          </a:solidFill>
                        </a:rPr>
                        <a:t>92.3%</a:t>
                      </a:r>
                    </a:p>
                  </a:txBody>
                  <a:tcPr>
                    <a:solidFill>
                      <a:srgbClr val="E8F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2B49"/>
                          </a:solidFill>
                        </a:rPr>
                        <a:t>93.6%</a:t>
                      </a:r>
                    </a:p>
                  </a:txBody>
                  <a:tcPr>
                    <a:solidFill>
                      <a:srgbClr val="E8F8E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B49"/>
                          </a:solidFill>
                        </a:rPr>
                        <a:t>Screening (0.575)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B49"/>
                          </a:solidFill>
                        </a:rPr>
                        <a:t>92.7%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B49"/>
                          </a:solidFill>
                        </a:rPr>
                        <a:t>91.2%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B49"/>
                          </a:solidFill>
                        </a:rPr>
                        <a:t>94.3%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Ablation  -  Every Input Earns Its 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</a:rPr>
              <a:t>Ashutosh Yadav  |  23035010693  |  IIT Guwahati  |  Trimester 8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400800"/>
            <a:ext cx="11612880" cy="1371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What Goes In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AUC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Sensitivity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Specificity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B49"/>
                          </a:solidFill>
                        </a:rPr>
                        <a:t>Phase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B49"/>
                          </a:solidFill>
                        </a:rPr>
                        <a:t>X-ray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B49"/>
                          </a:solidFill>
                        </a:rPr>
                        <a:t>0.826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B49"/>
                          </a:solidFill>
                        </a:rPr>
                        <a:t>71.0%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B49"/>
                          </a:solidFill>
                        </a:rPr>
                        <a:t> -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B49"/>
                          </a:solidFill>
                        </a:rPr>
                        <a:t>76.3%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B49"/>
                          </a:solidFill>
                        </a:rPr>
                        <a:t>Phase 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B49"/>
                          </a:solidFill>
                        </a:rPr>
                        <a:t>X-ray + Report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B49"/>
                          </a:solidFill>
                        </a:rPr>
                        <a:t>0.946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B49"/>
                          </a:solidFill>
                        </a:rPr>
                        <a:t>86.6%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B49"/>
                          </a:solidFill>
                        </a:rPr>
                        <a:t>89.1%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B49"/>
                          </a:solidFill>
                        </a:rPr>
                        <a:t>87.8%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2B49"/>
                          </a:solidFill>
                        </a:rPr>
                        <a:t>Phase 3c</a:t>
                      </a:r>
                    </a:p>
                  </a:txBody>
                  <a:tcPr>
                    <a:solidFill>
                      <a:srgbClr val="E8F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2B49"/>
                          </a:solidFill>
                        </a:rPr>
                        <a:t>X-ray + Text + WBC</a:t>
                      </a:r>
                    </a:p>
                  </a:txBody>
                  <a:tcPr>
                    <a:solidFill>
                      <a:srgbClr val="E8F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2B49"/>
                          </a:solidFill>
                        </a:rPr>
                        <a:t>0.971</a:t>
                      </a:r>
                    </a:p>
                  </a:txBody>
                  <a:tcPr>
                    <a:solidFill>
                      <a:srgbClr val="E8F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2B49"/>
                          </a:solidFill>
                        </a:rPr>
                        <a:t>92.3%</a:t>
                      </a:r>
                    </a:p>
                  </a:txBody>
                  <a:tcPr>
                    <a:solidFill>
                      <a:srgbClr val="E8F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2B49"/>
                          </a:solidFill>
                        </a:rPr>
                        <a:t>93.6%</a:t>
                      </a:r>
                    </a:p>
                  </a:txBody>
                  <a:tcPr>
                    <a:solidFill>
                      <a:srgbClr val="E8F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2B49"/>
                          </a:solidFill>
                        </a:rPr>
                        <a:t>92.9%</a:t>
                      </a:r>
                    </a:p>
                  </a:txBody>
                  <a:tcPr>
                    <a:solidFill>
                      <a:srgbClr val="E8F8E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3063240"/>
            <a:ext cx="5303520" cy="502920"/>
          </a:xfrm>
          <a:prstGeom prst="rect">
            <a:avLst/>
          </a:prstGeom>
          <a:solidFill>
            <a:srgbClr val="E8F8E8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12724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Adding report text:  +12.0% AUC,  +15.6% Sensitivity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3063240"/>
            <a:ext cx="5669280" cy="502920"/>
          </a:xfrm>
          <a:prstGeom prst="rect">
            <a:avLst/>
          </a:prstGeom>
          <a:solidFill>
            <a:srgbClr val="E8F8E8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312724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Adding WBC:  +2.5% AUC,  +5.7% Sensitivity  (1 blood test)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4048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1B2B49"/>
                </a:solidFill>
              </a:rPr>
              <a:t>Each row adds exactly one input. The biggest jump is from the report text (+12%). Adding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B2B49"/>
                </a:solidFill>
              </a:rPr>
              <a:t>WBC gives another +2.5%  -  from just one blood test that is ready in 15 minutes.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B2B49"/>
                </a:solidFill>
              </a:rPr>
              <a:t>Total journey: AUC 0.826 -&gt; 0.971 (+14.5 percentage points).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Do We Need 17 Lab Tests? No  -  Just WBC.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</a:rPr>
              <a:t>Ashutosh Yadav  |  23035010693  |  IIT Guwahati  |  Trimester 8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400800"/>
            <a:ext cx="11612880" cy="1371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1124712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Extra Data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AUC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Sensitivity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Specificity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B49"/>
                          </a:solidFill>
                        </a:rPr>
                        <a:t>Phase 2v2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B49"/>
                          </a:solidFill>
                        </a:rPr>
                        <a:t>None (text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B49"/>
                          </a:solidFill>
                        </a:rPr>
                        <a:t>0.946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B49"/>
                          </a:solidFill>
                        </a:rPr>
                        <a:t>86.6%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B49"/>
                          </a:solidFill>
                        </a:rPr>
                        <a:t>89.1%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2B49"/>
                          </a:solidFill>
                        </a:rPr>
                        <a:t>Phase 3c</a:t>
                      </a:r>
                    </a:p>
                  </a:txBody>
                  <a:tcPr>
                    <a:solidFill>
                      <a:srgbClr val="E8F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2B49"/>
                          </a:solidFill>
                        </a:rPr>
                        <a:t>WBC only (1 test)</a:t>
                      </a:r>
                    </a:p>
                  </a:txBody>
                  <a:tcPr>
                    <a:solidFill>
                      <a:srgbClr val="E8F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2B49"/>
                          </a:solidFill>
                        </a:rPr>
                        <a:t>0.971</a:t>
                      </a:r>
                    </a:p>
                  </a:txBody>
                  <a:tcPr>
                    <a:solidFill>
                      <a:srgbClr val="E8F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2B49"/>
                          </a:solidFill>
                        </a:rPr>
                        <a:t>92.3%</a:t>
                      </a:r>
                    </a:p>
                  </a:txBody>
                  <a:tcPr>
                    <a:solidFill>
                      <a:srgbClr val="E8F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2B49"/>
                          </a:solidFill>
                        </a:rPr>
                        <a:t>93.6%</a:t>
                      </a:r>
                    </a:p>
                  </a:txBody>
                  <a:tcPr>
                    <a:solidFill>
                      <a:srgbClr val="E8F8E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B49"/>
                          </a:solidFill>
                        </a:rPr>
                        <a:t>Phase 3 full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B49"/>
                          </a:solidFill>
                        </a:rPr>
                        <a:t>All 17 lab 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B49"/>
                          </a:solidFill>
                        </a:rPr>
                        <a:t>0.989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B49"/>
                          </a:solidFill>
                        </a:rPr>
                        <a:t>89.1%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B49"/>
                          </a:solidFill>
                        </a:rPr>
                        <a:t>94.3%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3108960"/>
            <a:ext cx="5486400" cy="2194560"/>
          </a:xfrm>
          <a:prstGeom prst="rect">
            <a:avLst/>
          </a:prstGeom>
          <a:solidFill>
            <a:srgbClr val="FDF0F0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</a:rPr>
              <a:t>Full 17-Feature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1B2B49"/>
                </a:solidFill>
              </a:rPr>
              <a:t>Needs: creatinine, CRP, albumin, full vitals...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B2B49"/>
                </a:solidFill>
              </a:rPr>
              <a:t>Ready: 1-4 hours after admission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B2B49"/>
                </a:solidFill>
              </a:rPr>
              <a:t>AUC: 0.989  |  Sensitivity: 89.1%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B2B49"/>
                </a:solidFill>
              </a:rPr>
              <a:t>&lt;- Misses more pneumonia patients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3108960"/>
            <a:ext cx="5486400" cy="2194560"/>
          </a:xfrm>
          <a:prstGeom prst="rect">
            <a:avLst/>
          </a:prstGeom>
          <a:solidFill>
            <a:srgbClr val="E8F8E8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2004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7AE60"/>
                </a:solidFill>
              </a:rPr>
              <a:t>Phase 3c  -  WBC Only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6616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1B2B49"/>
                </a:solidFill>
              </a:rPr>
              <a:t>Needs: just WBC from routine CBC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B2B49"/>
                </a:solidFill>
              </a:rPr>
              <a:t>Ready: 15 minutes after arrival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B2B49"/>
                </a:solidFill>
              </a:rPr>
              <a:t>AUC: 0.971  |  Sensitivity: 92.3%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B2B49"/>
                </a:solidFill>
              </a:rPr>
              <a:t>&lt;- Catches MORE sick patients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486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5276"/>
                </a:solidFill>
              </a:rPr>
              <a:t>Phase 3c closes 92.5% of the AUC gap using 1 of 17 features  -  and has higher sensitivity.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Why WBC Helps  -  The Clinical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</a:rPr>
              <a:t>Ashutosh Yadav  |  23035010693  |  IIT Guwahati  |  Trimester 8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400800"/>
            <a:ext cx="11612880" cy="1371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029200" cy="1828800"/>
          </a:xfrm>
          <a:prstGeom prst="rect">
            <a:avLst/>
          </a:prstGeom>
          <a:solidFill>
            <a:srgbClr val="E0EEF8"/>
          </a:solidFill>
          <a:ln w="1905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276"/>
                </a:solidFill>
              </a:rPr>
              <a:t>X-ray shows: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B2B49"/>
                </a:solidFill>
              </a:rPr>
              <a:t>"Opacity in the right lower lobe"
(Could be pneumonia, fluid, or collapse)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16459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555555"/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1188720"/>
            <a:ext cx="5029200" cy="1828800"/>
          </a:xfrm>
          <a:prstGeom prst="rect">
            <a:avLst/>
          </a:prstGeom>
          <a:solidFill>
            <a:srgbClr val="F0E8F8"/>
          </a:solidFill>
          <a:ln w="19050">
            <a:solidFill>
              <a:srgbClr val="6C3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2801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3E9E"/>
                </a:solidFill>
              </a:rPr>
              <a:t>WBC shows: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60020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B2B49"/>
                </a:solidFill>
              </a:rPr>
              <a:t>"WBC = 18,000/uL
Body is fighting an infection"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3383280"/>
            <a:ext cx="6675120" cy="1097280"/>
          </a:xfrm>
          <a:prstGeom prst="rect">
            <a:avLst/>
          </a:prstGeom>
          <a:solidFill>
            <a:srgbClr val="E8F8E8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3474720"/>
            <a:ext cx="6309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7AE60"/>
                </a:solidFill>
              </a:rPr>
              <a:t>Together: HIGH confidence this is PNEUMONIA
(not fluid or collapse  -  the body is fighting an infection)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548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1B2B49"/>
                </a:solidFill>
              </a:rPr>
              <a:t>A shadow on an X-ray alone is ambiguous. But a shadow + elevated WBC strongly points to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B2B49"/>
                </a:solidFill>
              </a:rPr>
              <a:t>infection. This is how doctors think  -  and now our model learns the same reasoning from 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</a:rPr>
              <a:t>Ashutosh Yadav  |  23035010693  |  IIT Guwahati  |  Trimester 8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400800"/>
            <a:ext cx="11612880" cy="1371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577840" cy="2103120"/>
          </a:xfrm>
          <a:prstGeom prst="rect">
            <a:avLst/>
          </a:prstGeom>
          <a:solidFill>
            <a:srgbClr val="FDF0F0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B49"/>
                </a:solidFill>
              </a:rPr>
              <a:t>Single Hospital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</a:rPr>
              <a:t>All data from Beth Israel Deaconess (USA).
Results may not hold at Indian or other hospitals.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188720"/>
            <a:ext cx="5577840" cy="2103120"/>
          </a:xfrm>
          <a:prstGeom prst="rect">
            <a:avLst/>
          </a:prstGeom>
          <a:solidFill>
            <a:srgbClr val="FEF3E0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258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B49"/>
                </a:solidFill>
              </a:rPr>
              <a:t>Binary Task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</a:rPr>
              <a:t>Normal vs Pneumonia only.
Real clinical X-rays involve 14+ findings.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66160"/>
            <a:ext cx="5577840" cy="2103120"/>
          </a:xfrm>
          <a:prstGeom prst="rect">
            <a:avLst/>
          </a:prstGeom>
          <a:solidFill>
            <a:srgbClr val="F0F4F8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033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B49"/>
                </a:solidFill>
              </a:rPr>
              <a:t>WBC Imputation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1480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</a:rPr>
              <a:t>~15% of WBC values were missing.
Filled with training-set median.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3566160"/>
            <a:ext cx="5577840" cy="2103120"/>
          </a:xfrm>
          <a:prstGeom prst="rect">
            <a:avLst/>
          </a:prstGeom>
          <a:solidFill>
            <a:srgbClr val="E8F8E8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7033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B49"/>
                </a:solidFill>
              </a:rPr>
              <a:t>Data Ethics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11480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</a:rPr>
              <a:t>All MIMIC-CXR use complied with
PhysioNet DUA and CITI ethics training.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Next Phase  -  Indian Hospital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</a:rPr>
              <a:t>Ashutosh Yadav  |  23035010693  |  IIT Guwahati  |  Trimester 8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400800"/>
            <a:ext cx="11612880" cy="1371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097280" cy="77724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2801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2B49"/>
                </a:solidFill>
              </a:rPr>
              <a:t> X-ray only (MIMIC-CXR, USA)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62763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5555"/>
                </a:solidFill>
              </a:rPr>
              <a:t>AUC 0.826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1097280" cy="77724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37744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331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2B49"/>
                </a:solidFill>
              </a:rPr>
              <a:t> X-ray + Report (MIMIC-CXR)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6791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5555"/>
                </a:solidFill>
              </a:rPr>
              <a:t>AUC 0.949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91839"/>
            <a:ext cx="1097280" cy="777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428999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Phase 3c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38327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2B49"/>
                </a:solidFill>
              </a:rPr>
              <a:t> X-ray + Text + WBC (MIMIC-CXR)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7307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AUC 0.971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343400"/>
            <a:ext cx="1097280" cy="7772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48056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Phase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434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2B49"/>
                </a:solidFill>
              </a:rPr>
              <a:t>-&gt; Indian hospital: CXR + WBC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78231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276"/>
                </a:solidFill>
              </a:rPr>
              <a:t>Planned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188720"/>
            <a:ext cx="5303520" cy="3931920"/>
          </a:xfrm>
          <a:prstGeom prst="rect">
            <a:avLst/>
          </a:prstGeom>
          <a:solidFill>
            <a:srgbClr val="F0F4F8"/>
          </a:solidFill>
          <a:ln w="1905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12801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5276"/>
                </a:solidFill>
              </a:rPr>
              <a:t>Why Indian data matters: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169164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1B2B49"/>
                </a:solidFill>
              </a:rPr>
              <a:t>- TB co-infection is common  -  different X-ray patterns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B2B49"/>
                </a:solidFill>
              </a:rPr>
              <a:t>- Malnutrition alters immune response and WBC ranges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B2B49"/>
                </a:solidFill>
              </a:rPr>
              <a:t>- Scanner quality varies from MIMIC-CXR standard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B2B49"/>
                </a:solidFill>
              </a:rPr>
              <a:t>- Resource-limited setting  -  model can have real impact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B2B49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B2B49"/>
                </a:solidFill>
              </a:rPr>
              <a:t>Goal: fine-tune Phase 3c on Indian patients and test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B2B49"/>
                </a:solidFill>
              </a:rPr>
              <a:t>whether the X-ray + WBC approach works across populations.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Complete Project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</a:rPr>
              <a:t>Ashutosh Yadav  |  23035010693  |  IIT Guwahati  |  Trimester 8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400800"/>
            <a:ext cx="11612880" cy="1371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2148840" cy="2286000"/>
          </a:xfrm>
          <a:prstGeom prst="rect">
            <a:avLst/>
          </a:prstGeom>
          <a:solidFill>
            <a:srgbClr val="F5F5F5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61872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55555"/>
                </a:solidFill>
              </a:rPr>
              <a:t>Stage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4592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2B49"/>
                </a:solidFill>
              </a:rPr>
              <a:t>Kaggle/IU
Arch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060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55555"/>
                </a:solidFill>
              </a:rPr>
              <a:t>AUC 0.97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39" y="19202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555555"/>
                </a:solidFill>
              </a:rPr>
              <a:t>-&gt;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1188720"/>
            <a:ext cx="2148840" cy="2286000"/>
          </a:xfrm>
          <a:prstGeom prst="rect">
            <a:avLst/>
          </a:prstGeom>
          <a:solidFill>
            <a:srgbClr val="F5F5F5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1261872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55555"/>
                </a:solidFill>
              </a:rPr>
              <a:t>Stage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164592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2B49"/>
                </a:solidFill>
              </a:rPr>
              <a:t>MIMIC Pilot
(139 imgs)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6060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55555"/>
                </a:solidFill>
              </a:rPr>
              <a:t>AUC 0.85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19202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555555"/>
                </a:solidFill>
              </a:rPr>
              <a:t>-&gt;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1188720"/>
            <a:ext cx="2148840" cy="2286000"/>
          </a:xfrm>
          <a:prstGeom prst="rect">
            <a:avLst/>
          </a:prstGeom>
          <a:solidFill>
            <a:srgbClr val="F5F5F5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1261872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55555"/>
                </a:solidFill>
              </a:rPr>
              <a:t>Stage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164592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2B49"/>
                </a:solidFill>
              </a:rPr>
              <a:t>Scale-up
(1,989)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6060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55555"/>
                </a:solidFill>
              </a:rPr>
              <a:t>AUC 0.826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19202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555555"/>
                </a:solidFill>
              </a:rPr>
              <a:t>-&gt;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1188720"/>
            <a:ext cx="2148840" cy="2286000"/>
          </a:xfrm>
          <a:prstGeom prst="rect">
            <a:avLst/>
          </a:prstGeom>
          <a:solidFill>
            <a:srgbClr val="F5F5F5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0" y="1261872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67E22"/>
                </a:solidFill>
              </a:rPr>
              <a:t>Phase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164592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2B49"/>
                </a:solidFill>
              </a:rPr>
              <a:t>Image +
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0" y="26060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67E22"/>
                </a:solidFill>
              </a:rPr>
              <a:t>AUC 0.949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19202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555555"/>
                </a:solidFill>
              </a:rPr>
              <a:t>-&gt;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84080" y="1188720"/>
            <a:ext cx="2148840" cy="2286000"/>
          </a:xfrm>
          <a:prstGeom prst="rect">
            <a:avLst/>
          </a:prstGeom>
          <a:solidFill>
            <a:srgbClr val="F5F5F5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0" y="1261872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7AE60"/>
                </a:solidFill>
              </a:rPr>
              <a:t>Phase 3c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164592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2B49"/>
                </a:solidFill>
              </a:rPr>
              <a:t>Image+Text
+WBC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26060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</a:rPr>
              <a:t>AUC 0.971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365760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55555"/>
                </a:solidFill>
              </a:rPr>
              <a:t>&lt;- Part 1 -&gt;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36576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7AE60"/>
                </a:solidFill>
              </a:rPr>
              <a:t>&lt;- Part 2 -&gt;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160520"/>
            <a:ext cx="3749039" cy="2011680"/>
          </a:xfrm>
          <a:prstGeom prst="rect">
            <a:avLst/>
          </a:prstGeom>
          <a:solidFill>
            <a:srgbClr val="F0F4F8"/>
          </a:solidFill>
          <a:ln w="1905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79" y="42519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276"/>
                </a:solidFill>
              </a:rPr>
              <a:t>Lesson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79" y="45720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2B49"/>
                </a:solidFill>
              </a:rPr>
              <a:t>Domain matters. ImageNet weights fail
on clinical X-rays. Use domain-specific
pretraining (TorchXRayVision).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4160520"/>
            <a:ext cx="3749039" cy="2011680"/>
          </a:xfrm>
          <a:prstGeom prst="rect">
            <a:avLst/>
          </a:prstGeom>
          <a:solidFill>
            <a:srgbClr val="F0F4F8"/>
          </a:solidFill>
          <a:ln w="1905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43400" y="42519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276"/>
                </a:solidFill>
              </a:rPr>
              <a:t>Lesson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3400" y="45720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2B49"/>
                </a:solidFill>
              </a:rPr>
              <a:t>Anti-leakage is non-negotiable.
Strip IMPRESSION from every report.
Most published papers miss this.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38160" y="4160520"/>
            <a:ext cx="3749039" cy="2011680"/>
          </a:xfrm>
          <a:prstGeom prst="rect">
            <a:avLst/>
          </a:prstGeom>
          <a:solidFill>
            <a:srgbClr val="F0F4F8"/>
          </a:solidFill>
          <a:ln w="1905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75320" y="42519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276"/>
                </a:solidFill>
              </a:rPr>
              <a:t>Lesson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45720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2B49"/>
                </a:solidFill>
              </a:rPr>
              <a:t>One good biomarker beats many weak
ones. WBC from CBC (15 min) closes
92.5% of the 17-lab gap.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</a:rPr>
              <a:t>Ashutosh Yadav  |  23035010693  |  IIT Guwahati  |  Trimester 8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400800"/>
            <a:ext cx="11612880" cy="1371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112471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Input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AUC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Sensitivity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Specificity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B49"/>
                          </a:solidFill>
                        </a:rPr>
                        <a:t>X-ray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B49"/>
                          </a:solidFill>
                        </a:rPr>
                        <a:t>0.826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B49"/>
                          </a:solidFill>
                        </a:rPr>
                        <a:t>71.0%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B49"/>
                          </a:solidFill>
                        </a:rPr>
                        <a:t> -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B49"/>
                          </a:solidFill>
                        </a:rPr>
                        <a:t>+ Report text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B49"/>
                          </a:solidFill>
                        </a:rPr>
                        <a:t>0.949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B49"/>
                          </a:solidFill>
                        </a:rPr>
                        <a:t>91.4%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B49"/>
                          </a:solidFill>
                        </a:rPr>
                        <a:t>86.3%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2B49"/>
                          </a:solidFill>
                        </a:rPr>
                        <a:t>+ WBC (1 test)</a:t>
                      </a:r>
                    </a:p>
                  </a:txBody>
                  <a:tcPr>
                    <a:solidFill>
                      <a:srgbClr val="E8F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2B49"/>
                          </a:solidFill>
                        </a:rPr>
                        <a:t>0.971</a:t>
                      </a:r>
                    </a:p>
                  </a:txBody>
                  <a:tcPr>
                    <a:solidFill>
                      <a:srgbClr val="E8F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2B49"/>
                          </a:solidFill>
                        </a:rPr>
                        <a:t>92.3%</a:t>
                      </a:r>
                    </a:p>
                  </a:txBody>
                  <a:tcPr>
                    <a:solidFill>
                      <a:srgbClr val="E8F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2B49"/>
                          </a:solidFill>
                        </a:rPr>
                        <a:t>93.6%</a:t>
                      </a:r>
                    </a:p>
                  </a:txBody>
                  <a:tcPr>
                    <a:solidFill>
                      <a:srgbClr val="E8F8E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B49"/>
                          </a:solidFill>
                        </a:rPr>
                        <a:t>Total gain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B49"/>
                          </a:solidFill>
                        </a:rPr>
                        <a:t>+14.5%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B49"/>
                          </a:solidFill>
                        </a:rPr>
                        <a:t>+21.3%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B49"/>
                          </a:solidFill>
                        </a:rPr>
                        <a:t> - 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383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5276"/>
                </a:solidFill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2B49"/>
                </a:solidFill>
              </a:rPr>
              <a:t>1.  X-ray alone hits a ceiling  -  clinical context breaks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96511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2B49"/>
                </a:solidFill>
              </a:rPr>
              <a:t>2.  Report text (with IMPRESSION removed) gives the biggest AUC gain (+12%).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43983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2B49"/>
                </a:solidFill>
              </a:rPr>
              <a:t>3.  WBC adds +5.7% sensitivity with one blood test ready in 15 minutes.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91456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2B49"/>
                </a:solidFill>
              </a:rPr>
              <a:t>4.  Phase 3c beats the 17-feature model on sensitivity  -  simpler works.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38927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2B49"/>
                </a:solidFill>
              </a:rPr>
              <a:t>5.  Next: collect Indian hospital data (CXR + WBC) and test generalisation.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760720"/>
            <a:ext cx="12191695" cy="5486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5833872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Ashutosh Yadav  |  23035010693  |  IIT Guwahati  |  github.com/Ashutosh-yadav0001/PneumoFusionNet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035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5276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