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6" r:id="rId1"/>
  </p:sldMasterIdLst>
  <p:notesMasterIdLst>
    <p:notesMasterId r:id="rId18"/>
  </p:notesMasterIdLst>
  <p:sldIdLst>
    <p:sldId id="271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1042" y="67"/>
      </p:cViewPr>
      <p:guideLst>
        <p:guide orient="horz" pos="2160"/>
        <p:guide pos="288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C8C97B-E56B-4F27-9185-68C7A87BB63A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938402-15C1-44C6-8A3A-94225713131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5552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7388" y="1143000"/>
            <a:ext cx="54832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"Hello, my name is Ashutosh Yadav, Roll Number 23035010693, from the B.Sc. Data Science and Artificial Intelligence programme at IIT Guwahati.</a:t>
            </a:r>
          </a:p>
          <a:p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my Term 8 project presentation on </a:t>
            </a:r>
            <a:r>
              <a:rPr lang="en-IN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PneumoFusionNet</a:t>
            </a: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a multimodal deep learning framework for pneumonia detection using chest X-rays and clinical reports.</a:t>
            </a:r>
          </a:p>
          <a:p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work is inspired by the </a:t>
            </a:r>
            <a:r>
              <a:rPr lang="en-I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PneumoFusion</a:t>
            </a: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-Net paper published in Frontiers in Physiology in March 2025 by Yu et al.</a:t>
            </a:r>
          </a:p>
          <a:p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 me walk you through the complete research journey — from validating our architecture on public datasets, to accessing restricted clinical data, to the surprising failure that changed our direction."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36C2D6-ECDF-4127-9C25-71D094A408CE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0278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DEC014E-32E8-BC91-190E-85B3C74C9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6214" y="964075"/>
            <a:ext cx="4653085" cy="373989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6214" y="4822842"/>
            <a:ext cx="4205145" cy="1380744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071" indent="0" algn="ctr">
              <a:buNone/>
              <a:defRPr sz="2000"/>
            </a:lvl2pPr>
            <a:lvl3pPr marL="914141" indent="0" algn="ctr">
              <a:buNone/>
              <a:defRPr sz="1800"/>
            </a:lvl3pPr>
            <a:lvl4pPr marL="1371212" indent="0" algn="ctr">
              <a:buNone/>
              <a:defRPr sz="1600"/>
            </a:lvl4pPr>
            <a:lvl5pPr marL="1828281" indent="0" algn="ctr">
              <a:buNone/>
              <a:defRPr sz="1600"/>
            </a:lvl5pPr>
            <a:lvl6pPr marL="2285353" indent="0" algn="ctr">
              <a:buNone/>
              <a:defRPr sz="1600"/>
            </a:lvl6pPr>
            <a:lvl7pPr marL="2742422" indent="0" algn="ctr">
              <a:buNone/>
              <a:defRPr sz="1600"/>
            </a:lvl7pPr>
            <a:lvl8pPr marL="3199493" indent="0" algn="ctr">
              <a:buNone/>
              <a:defRPr sz="1600"/>
            </a:lvl8pPr>
            <a:lvl9pPr marL="3656564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2603722-CE80-C718-39E9-BB79F1F68C3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84C280F-E753-FE97-A722-F86168AC97B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41029" y="964074"/>
            <a:ext cx="5401873" cy="5258929"/>
          </a:xfrm>
          <a:custGeom>
            <a:avLst/>
            <a:gdLst>
              <a:gd name="connsiteX0" fmla="*/ 2701640 w 5403280"/>
              <a:gd name="connsiteY0" fmla="*/ 0 h 5258929"/>
              <a:gd name="connsiteX1" fmla="*/ 5403280 w 5403280"/>
              <a:gd name="connsiteY1" fmla="*/ 2701640 h 5258929"/>
              <a:gd name="connsiteX2" fmla="*/ 5403280 w 5403280"/>
              <a:gd name="connsiteY2" fmla="*/ 5258929 h 5258929"/>
              <a:gd name="connsiteX3" fmla="*/ 0 w 5403280"/>
              <a:gd name="connsiteY3" fmla="*/ 5258929 h 5258929"/>
              <a:gd name="connsiteX4" fmla="*/ 0 w 5403280"/>
              <a:gd name="connsiteY4" fmla="*/ 2701640 h 5258929"/>
              <a:gd name="connsiteX5" fmla="*/ 2701640 w 5403280"/>
              <a:gd name="connsiteY5" fmla="*/ 0 h 5258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03280" h="5258929">
                <a:moveTo>
                  <a:pt x="2701640" y="0"/>
                </a:moveTo>
                <a:cubicBezTo>
                  <a:pt x="4193715" y="0"/>
                  <a:pt x="5403280" y="1209565"/>
                  <a:pt x="5403280" y="2701640"/>
                </a:cubicBezTo>
                <a:lnTo>
                  <a:pt x="5403280" y="5258929"/>
                </a:lnTo>
                <a:lnTo>
                  <a:pt x="0" y="5258929"/>
                </a:lnTo>
                <a:lnTo>
                  <a:pt x="0" y="2701640"/>
                </a:lnTo>
                <a:cubicBezTo>
                  <a:pt x="0" y="1209565"/>
                  <a:pt x="1209565" y="0"/>
                  <a:pt x="2701640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ln w="6350">
            <a:noFill/>
          </a:ln>
        </p:spPr>
        <p:txBody>
          <a:bodyPr wrap="square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117A08-C834-F239-A3DF-2D1295F0AE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422913" y="4687143"/>
            <a:ext cx="2706690" cy="365030"/>
          </a:xfrm>
        </p:spPr>
        <p:txBody>
          <a:bodyPr/>
          <a:lstStyle/>
          <a:p>
            <a:fld id="{7FA43F5B-065E-43CE-B3FD-98C48A6F94D7}" type="datetime1">
              <a:rPr lang="en-US" smtClean="0"/>
              <a:t>9/3/2026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E80C6A5-61FE-078D-49D9-31BD1294014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4905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 userDrawn="1">
          <p15:clr>
            <a:srgbClr val="FBAE40"/>
          </p15:clr>
        </p15:guide>
        <p15:guide id="6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E6C4595-90D4-94E6-CEBA-82807457D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329" y="365760"/>
            <a:ext cx="10738355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329" y="1658679"/>
            <a:ext cx="10777969" cy="4925000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5826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441" y="5218032"/>
            <a:ext cx="10969943" cy="786384"/>
          </a:xfrm>
        </p:spPr>
        <p:txBody>
          <a:bodyPr anchor="b">
            <a:normAutofit/>
          </a:bodyPr>
          <a:lstStyle>
            <a:lvl1pPr algn="ctr">
              <a:defRPr sz="43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441" y="5972632"/>
            <a:ext cx="10969943" cy="480373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071" indent="0" algn="ctr">
              <a:buNone/>
              <a:defRPr sz="2000"/>
            </a:lvl2pPr>
            <a:lvl3pPr marL="914141" indent="0" algn="ctr">
              <a:buNone/>
              <a:defRPr sz="1800"/>
            </a:lvl3pPr>
            <a:lvl4pPr marL="1371212" indent="0" algn="ctr">
              <a:buNone/>
              <a:defRPr sz="1600"/>
            </a:lvl4pPr>
            <a:lvl5pPr marL="1828281" indent="0" algn="ctr">
              <a:buNone/>
              <a:defRPr sz="1600"/>
            </a:lvl5pPr>
            <a:lvl6pPr marL="2285353" indent="0" algn="ctr">
              <a:buNone/>
              <a:defRPr sz="1600"/>
            </a:lvl6pPr>
            <a:lvl7pPr marL="2742422" indent="0" algn="ctr">
              <a:buNone/>
              <a:defRPr sz="1600"/>
            </a:lvl7pPr>
            <a:lvl8pPr marL="3199493" indent="0" algn="ctr">
              <a:buNone/>
              <a:defRPr sz="1600"/>
            </a:lvl8pPr>
            <a:lvl9pPr marL="3656564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" y="3"/>
            <a:ext cx="12188824" cy="4986425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88BD73-E6AB-68A9-F41B-313E0C44777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 rot="16200000">
            <a:off x="-396212" y="5787239"/>
            <a:ext cx="1503444" cy="36503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AA6162-61A3-2C41-311C-F407FC4B4DA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A43F5B-065E-43CE-B3FD-98C48A6F94D7}" type="datetime1">
              <a:rPr lang="en-US" smtClean="0"/>
              <a:t>9/3/2026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DABF624-39B6-C7A2-98E7-26593626B4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5" y="4989940"/>
            <a:ext cx="1218882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6B102F-64E7-9387-1F8F-DB4AC825773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DE90F28-AFBB-4AB2-AA79-6D3F72ED131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70069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 userDrawn="1">
          <p15:clr>
            <a:srgbClr val="FBAE40"/>
          </p15:clr>
        </p15:guide>
        <p15:guide id="6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E84C31D-CC85-27E5-FD9F-627C926D5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984" y="2578611"/>
            <a:ext cx="7877283" cy="3592629"/>
          </a:xfrm>
        </p:spPr>
        <p:txBody>
          <a:bodyPr>
            <a:normAutofit/>
          </a:bodyPr>
          <a:lstStyle>
            <a:lvl1pPr>
              <a:defRPr sz="5999"/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10B934F-7AD0-6CA4-BC4D-9CC30854BF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5" y="1714500"/>
            <a:ext cx="1218882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FF6486-38AE-54F6-E2F3-8B944C3F1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41BD916-71AE-106E-105D-01655950FC4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986761" y="368301"/>
            <a:ext cx="7373605" cy="1014413"/>
          </a:xfrm>
        </p:spPr>
        <p:txBody>
          <a:bodyPr anchor="ctr">
            <a:normAutofit/>
          </a:bodyPr>
          <a:lstStyle>
            <a:lvl1pPr algn="r"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FD0054-227E-4953-9BB1-7141F9024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42E0F1-15E9-E241-9959-A6D46B69E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6068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 userDrawn="1">
          <p15:clr>
            <a:srgbClr val="FBAE40"/>
          </p15:clr>
        </p15:guide>
        <p15:guide id="6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5842852-3CDE-22AD-D5F0-AAF8279A0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982" y="859539"/>
            <a:ext cx="9543850" cy="3675885"/>
          </a:xfrm>
        </p:spPr>
        <p:txBody>
          <a:bodyPr anchor="t">
            <a:normAutofit/>
          </a:bodyPr>
          <a:lstStyle>
            <a:lvl1pPr>
              <a:defRPr sz="59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EE2A7A0-B9EE-41A8-8016-28E5803F20B2}" type="datetime1">
              <a:rPr lang="en-US" smtClean="0"/>
              <a:pPr/>
              <a:t>9/3/2026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4D523C5-E38D-F0DE-48C0-B6B8404B6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5" y="5143500"/>
            <a:ext cx="1218882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4297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 userDrawn="1">
          <p15:clr>
            <a:srgbClr val="FBAE40"/>
          </p15:clr>
        </p15:guide>
        <p15:guide id="6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4EF7E11-76D4-64FA-465B-165405450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613" y="1296086"/>
            <a:ext cx="4352192" cy="4265835"/>
          </a:xfrm>
          <a:custGeom>
            <a:avLst/>
            <a:gdLst>
              <a:gd name="connsiteX0" fmla="*/ 2176663 w 4353325"/>
              <a:gd name="connsiteY0" fmla="*/ 0 h 4265835"/>
              <a:gd name="connsiteX1" fmla="*/ 4353325 w 4353325"/>
              <a:gd name="connsiteY1" fmla="*/ 2176662 h 4265835"/>
              <a:gd name="connsiteX2" fmla="*/ 4353325 w 4353325"/>
              <a:gd name="connsiteY2" fmla="*/ 2712923 h 4265835"/>
              <a:gd name="connsiteX3" fmla="*/ 4353325 w 4353325"/>
              <a:gd name="connsiteY3" fmla="*/ 3733873 h 4265835"/>
              <a:gd name="connsiteX4" fmla="*/ 4353325 w 4353325"/>
              <a:gd name="connsiteY4" fmla="*/ 4265835 h 4265835"/>
              <a:gd name="connsiteX5" fmla="*/ 0 w 4353325"/>
              <a:gd name="connsiteY5" fmla="*/ 4265835 h 4265835"/>
              <a:gd name="connsiteX6" fmla="*/ 0 w 4353325"/>
              <a:gd name="connsiteY6" fmla="*/ 3733873 h 4265835"/>
              <a:gd name="connsiteX7" fmla="*/ 0 w 4353325"/>
              <a:gd name="connsiteY7" fmla="*/ 2712923 h 4265835"/>
              <a:gd name="connsiteX8" fmla="*/ 0 w 4353325"/>
              <a:gd name="connsiteY8" fmla="*/ 2176662 h 4265835"/>
              <a:gd name="connsiteX9" fmla="*/ 2176663 w 4353325"/>
              <a:gd name="connsiteY9" fmla="*/ 0 h 4265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53325" h="4265835">
                <a:moveTo>
                  <a:pt x="2176663" y="0"/>
                </a:moveTo>
                <a:cubicBezTo>
                  <a:pt x="3378800" y="0"/>
                  <a:pt x="4353325" y="974525"/>
                  <a:pt x="4353325" y="2176662"/>
                </a:cubicBezTo>
                <a:lnTo>
                  <a:pt x="4353325" y="2712923"/>
                </a:lnTo>
                <a:lnTo>
                  <a:pt x="4353325" y="3733873"/>
                </a:lnTo>
                <a:lnTo>
                  <a:pt x="4353325" y="4265835"/>
                </a:lnTo>
                <a:lnTo>
                  <a:pt x="0" y="4265835"/>
                </a:lnTo>
                <a:lnTo>
                  <a:pt x="0" y="3733873"/>
                </a:lnTo>
                <a:lnTo>
                  <a:pt x="0" y="2712923"/>
                </a:lnTo>
                <a:lnTo>
                  <a:pt x="0" y="2176662"/>
                </a:lnTo>
                <a:cubicBezTo>
                  <a:pt x="0" y="974525"/>
                  <a:pt x="974525" y="0"/>
                  <a:pt x="2176663" y="0"/>
                </a:cubicBezTo>
                <a:close/>
              </a:path>
            </a:pathLst>
          </a:custGeom>
          <a:ln w="6350">
            <a:solidFill>
              <a:schemeClr val="tx1"/>
            </a:solidFill>
          </a:ln>
        </p:spPr>
        <p:txBody>
          <a:bodyPr wrap="square" lIns="182880" tIns="914400" rIns="182880" anchor="ctr" anchorCtr="0">
            <a:noAutofit/>
          </a:bodyPr>
          <a:lstStyle>
            <a:lvl1pPr algn="ctr">
              <a:defRPr sz="31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533354" y="1296086"/>
            <a:ext cx="4323986" cy="4265835"/>
          </a:xfrm>
        </p:spPr>
        <p:txBody>
          <a:bodyPr anchor="b" anchorCtr="0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535" indent="0">
              <a:buNone/>
              <a:defRPr>
                <a:solidFill>
                  <a:schemeClr val="tx1"/>
                </a:solidFill>
              </a:defRPr>
            </a:lvl2pPr>
            <a:lvl3pPr marL="457071" indent="0">
              <a:buNone/>
              <a:defRPr>
                <a:solidFill>
                  <a:schemeClr val="tx1"/>
                </a:solidFill>
              </a:defRPr>
            </a:lvl3pPr>
            <a:lvl4pPr marL="685606" indent="0">
              <a:buNone/>
              <a:defRPr>
                <a:solidFill>
                  <a:schemeClr val="tx1"/>
                </a:solidFill>
              </a:defRPr>
            </a:lvl4pPr>
            <a:lvl5pPr marL="914141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53D6F41-6645-4089-A6BB-7B692A44A4CC}" type="datetime1">
              <a:rPr lang="en-US" smtClean="0"/>
              <a:pPr/>
              <a:t>9/3/2026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685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05B5E-C545-4763-BA47-4C2C0FCA5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428" y="4608576"/>
            <a:ext cx="4168578" cy="1609344"/>
          </a:xfrm>
        </p:spPr>
        <p:txBody>
          <a:bodyPr anchor="t" anchorCtr="0">
            <a:noAutofit/>
          </a:bodyPr>
          <a:lstStyle>
            <a:lvl1pPr algn="ctr">
              <a:defRPr sz="43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9D23AA-8F22-4B09-8FAA-CD16E5D66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E5AAB3D-814D-597A-6ADE-F522A8116DCD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1256975" y="1097280"/>
            <a:ext cx="3775487" cy="3168100"/>
          </a:xfrm>
          <a:custGeom>
            <a:avLst/>
            <a:gdLst>
              <a:gd name="connsiteX0" fmla="*/ 1888235 w 3776470"/>
              <a:gd name="connsiteY0" fmla="*/ 0 h 3168100"/>
              <a:gd name="connsiteX1" fmla="*/ 3776470 w 3776470"/>
              <a:gd name="connsiteY1" fmla="*/ 1888235 h 3168100"/>
              <a:gd name="connsiteX2" fmla="*/ 3776470 w 3776470"/>
              <a:gd name="connsiteY2" fmla="*/ 3168100 h 3168100"/>
              <a:gd name="connsiteX3" fmla="*/ 0 w 3776470"/>
              <a:gd name="connsiteY3" fmla="*/ 3168100 h 3168100"/>
              <a:gd name="connsiteX4" fmla="*/ 0 w 3776470"/>
              <a:gd name="connsiteY4" fmla="*/ 1888235 h 3168100"/>
              <a:gd name="connsiteX5" fmla="*/ 1888235 w 3776470"/>
              <a:gd name="connsiteY5" fmla="*/ 0 h 316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76470" h="3168100">
                <a:moveTo>
                  <a:pt x="1888235" y="0"/>
                </a:moveTo>
                <a:cubicBezTo>
                  <a:pt x="2931078" y="0"/>
                  <a:pt x="3776470" y="845392"/>
                  <a:pt x="3776470" y="1888235"/>
                </a:cubicBezTo>
                <a:lnTo>
                  <a:pt x="3776470" y="3168100"/>
                </a:lnTo>
                <a:lnTo>
                  <a:pt x="0" y="3168100"/>
                </a:lnTo>
                <a:lnTo>
                  <a:pt x="0" y="1888235"/>
                </a:lnTo>
                <a:cubicBezTo>
                  <a:pt x="0" y="845392"/>
                  <a:pt x="845392" y="0"/>
                  <a:pt x="1888235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ln w="6350">
            <a:solidFill>
              <a:schemeClr val="tx1"/>
            </a:solidFill>
          </a:ln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sz="3199">
                <a:solidFill>
                  <a:schemeClr val="tx1"/>
                </a:solidFill>
              </a:defRPr>
            </a:lvl1pPr>
            <a:lvl2pPr marL="457071" indent="0">
              <a:buNone/>
              <a:defRPr sz="2799"/>
            </a:lvl2pPr>
            <a:lvl3pPr marL="914141" indent="0">
              <a:buNone/>
              <a:defRPr sz="2399"/>
            </a:lvl3pPr>
            <a:lvl4pPr marL="1371212" indent="0">
              <a:buNone/>
              <a:defRPr sz="2000"/>
            </a:lvl4pPr>
            <a:lvl5pPr marL="1828281" indent="0">
              <a:buNone/>
              <a:defRPr sz="2000"/>
            </a:lvl5pPr>
            <a:lvl6pPr marL="2285353" indent="0">
              <a:buNone/>
              <a:defRPr sz="2000"/>
            </a:lvl6pPr>
            <a:lvl7pPr marL="2742422" indent="0">
              <a:buNone/>
              <a:defRPr sz="2000"/>
            </a:lvl7pPr>
            <a:lvl8pPr marL="3199493" indent="0">
              <a:buNone/>
              <a:defRPr sz="2000"/>
            </a:lvl8pPr>
            <a:lvl9pPr marL="3656564" indent="0">
              <a:buNone/>
              <a:defRPr sz="2000"/>
            </a:lvl9pPr>
          </a:lstStyle>
          <a:p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A263F8-8E34-4910-BF7A-F1C5A99689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39604" y="841248"/>
            <a:ext cx="4214286" cy="5330952"/>
          </a:xfr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  <a:lvl2pPr algn="ctr">
              <a:defRPr>
                <a:solidFill>
                  <a:schemeClr val="tx1"/>
                </a:solidFill>
              </a:defRPr>
            </a:lvl2pPr>
            <a:lvl3pPr algn="ctr">
              <a:defRPr>
                <a:solidFill>
                  <a:schemeClr val="tx1"/>
                </a:solidFill>
              </a:defRPr>
            </a:lvl3pPr>
            <a:lvl4pPr algn="ctr">
              <a:defRPr>
                <a:solidFill>
                  <a:schemeClr val="tx1"/>
                </a:solidFill>
              </a:defRPr>
            </a:lvl4pPr>
            <a:lvl5pPr algn="ctr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6E74E5-D20D-4AB7-8D98-F336CE0EC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E8A028-A0C8-45E7-915E-B83FF59C9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CD2C868-CE73-A5B1-1389-62A23B14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295445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5797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179" y="2615184"/>
            <a:ext cx="3812055" cy="3557016"/>
          </a:xfrm>
        </p:spPr>
        <p:txBody>
          <a:bodyPr>
            <a:normAutofit/>
          </a:bodyPr>
          <a:lstStyle>
            <a:lvl1pPr>
              <a:defRPr sz="31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8302" y="841248"/>
            <a:ext cx="4954884" cy="355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400">
                <a:solidFill>
                  <a:schemeClr val="tx1"/>
                </a:solidFill>
              </a:defRPr>
            </a:lvl4pPr>
            <a:lvl5pP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F4378AB-83E7-8777-F6CD-8F19BA4FE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V="1">
            <a:off x="5014896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5984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329" y="841248"/>
            <a:ext cx="2998451" cy="5184648"/>
          </a:xfrm>
        </p:spPr>
        <p:txBody>
          <a:bodyPr anchor="t" anchorCtr="0">
            <a:normAutofit/>
          </a:bodyPr>
          <a:lstStyle>
            <a:lvl1pPr>
              <a:defRPr sz="31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65712" y="841248"/>
            <a:ext cx="6258524" cy="518464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400">
                <a:solidFill>
                  <a:schemeClr val="tx1"/>
                </a:solidFill>
              </a:defRPr>
            </a:lvl4pPr>
            <a:lvl5pP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8293A07-68F2-BD10-B738-E87F3F3D8C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V="1">
            <a:off x="4181122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10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28854" y="990513"/>
            <a:ext cx="2564925" cy="1858941"/>
          </a:xfrm>
        </p:spPr>
        <p:txBody>
          <a:bodyPr anchor="b"/>
          <a:lstStyle>
            <a:lvl1pPr>
              <a:defRPr lang="en-US" sz="3199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" y="0"/>
            <a:ext cx="8324154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29972" y="3011335"/>
            <a:ext cx="2559309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535" indent="0">
              <a:buNone/>
              <a:defRPr lang="en-US" sz="1400" dirty="0"/>
            </a:lvl2pPr>
            <a:lvl3pPr marL="457071" indent="0">
              <a:buNone/>
              <a:defRPr lang="en-US" sz="1400" dirty="0"/>
            </a:lvl3pPr>
            <a:lvl4pPr marL="685606" indent="0">
              <a:buNone/>
              <a:defRPr lang="en-US" sz="1400" dirty="0"/>
            </a:lvl4pPr>
            <a:lvl5pPr marL="914141" indent="0">
              <a:buNone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8BD5A515-9970-0784-7927-52F94C270B4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5400000">
            <a:off x="10289495" y="1593006"/>
            <a:ext cx="2973522" cy="365030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Date Placeholder 4">
            <a:extLst>
              <a:ext uri="{FF2B5EF4-FFF2-40B4-BE49-F238E27FC236}">
                <a16:creationId xmlns:a16="http://schemas.microsoft.com/office/drawing/2014/main" id="{8523CCEC-6BB2-B704-95E2-87FED823C5BD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 rot="5400000">
            <a:off x="10422913" y="4687143"/>
            <a:ext cx="2706690" cy="36503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FA43F5B-065E-43CE-B3FD-98C48A6F94D7}" type="datetime1">
              <a:rPr lang="en-US" smtClean="0"/>
              <a:pPr/>
              <a:t>9/3/2026</a:t>
            </a:fld>
            <a:endParaRPr lang="en-US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1208465C-8C77-73BF-D18F-D01907BAC86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9299" y="6356353"/>
            <a:ext cx="57447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0E2A219-E459-07B3-1ED3-CBF7D239BE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18403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7035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2139" y="548640"/>
            <a:ext cx="6091639" cy="1143000"/>
          </a:xfrm>
        </p:spPr>
        <p:txBody>
          <a:bodyPr anchor="b">
            <a:noAutofit/>
          </a:bodyPr>
          <a:lstStyle>
            <a:lvl1pPr>
              <a:defRPr sz="31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792637" cy="685800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02140" y="1828800"/>
            <a:ext cx="6070035" cy="448970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F483F68-3490-71E7-A7DA-DA46BC485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795905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345FA4-0621-D8F1-73D0-046B7F4D7713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 rot="5400000">
            <a:off x="10422913" y="4687143"/>
            <a:ext cx="2706690" cy="36503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4C51678-E871-8AD4-08DA-BF7B7013A35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16200000" flipH="1">
            <a:off x="10289497" y="1593005"/>
            <a:ext cx="2973522" cy="365030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CD01CE4-E064-7D2F-7D3A-9DA85E2777F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9465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330" y="548640"/>
            <a:ext cx="6134026" cy="1143000"/>
          </a:xfrm>
        </p:spPr>
        <p:txBody>
          <a:bodyPr anchor="b">
            <a:noAutofit/>
          </a:bodyPr>
          <a:lstStyle>
            <a:lvl1pPr>
              <a:defRPr sz="31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1330" y="1828800"/>
            <a:ext cx="6134026" cy="448970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98617" y="0"/>
            <a:ext cx="4790208" cy="685800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C07157-DE89-FE2F-0547-2E4055913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380100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A0C5A-6673-53CC-030B-67BA133D974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 rot="5400000">
            <a:off x="-997838" y="4687143"/>
            <a:ext cx="2706690" cy="36503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2521688-F793-E4F2-732B-EEE6F58B758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16200000" flipH="1">
            <a:off x="-1131254" y="1593005"/>
            <a:ext cx="2973522" cy="36503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DDBE29E-7417-B57C-BA94-1DBC14BE461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1105" y="6356353"/>
            <a:ext cx="57447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8635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330" y="320040"/>
            <a:ext cx="6856214" cy="932688"/>
          </a:xfrm>
        </p:spPr>
        <p:txBody>
          <a:bodyPr anchor="b">
            <a:noAutofit/>
          </a:bodyPr>
          <a:lstStyle>
            <a:lvl1pPr>
              <a:defRPr sz="31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1330" y="1380744"/>
            <a:ext cx="6856214" cy="498348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89626" y="0"/>
            <a:ext cx="4099199" cy="685800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C626C00-7A36-46A2-880D-F484910B34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075656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FF6D8B-36A2-DF79-CDB9-885694DCA71D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 rot="5400000">
            <a:off x="-997838" y="4687143"/>
            <a:ext cx="2706690" cy="36503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A2396A-E38F-CC9C-7303-71F99D08208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16200000" flipH="1">
            <a:off x="-1131254" y="1593005"/>
            <a:ext cx="2973522" cy="36503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3B0E4B-031C-4F2A-1993-D824DD71F7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1105" y="6356353"/>
            <a:ext cx="57447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0613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330" y="583416"/>
            <a:ext cx="4360552" cy="1262639"/>
          </a:xfrm>
        </p:spPr>
        <p:txBody>
          <a:bodyPr anchor="b">
            <a:noAutofit/>
          </a:bodyPr>
          <a:lstStyle>
            <a:lvl1pPr>
              <a:defRPr sz="31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1332" y="1979461"/>
            <a:ext cx="4359727" cy="432926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43984" y="0"/>
            <a:ext cx="6444841" cy="685800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481977D-48BC-F135-96F9-1655E4BEE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730633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EA981C2C-E0DD-29A7-8209-50D66488152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 rot="5400000">
            <a:off x="-997838" y="4687143"/>
            <a:ext cx="2706690" cy="365030"/>
          </a:xfrm>
        </p:spPr>
        <p:txBody>
          <a:bodyPr/>
          <a:lstStyle/>
          <a:p>
            <a:fld id="{7FA43F5B-065E-43CE-B3FD-98C48A6F94D7}" type="datetime1">
              <a:rPr lang="en-US" smtClean="0"/>
              <a:pPr/>
              <a:t>9/3/2026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D205369F-8CCB-402F-9055-2BF12262B54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16200000" flipH="1">
            <a:off x="-1131254" y="1593005"/>
            <a:ext cx="2973522" cy="36503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33591F2-4BD3-37D0-B00E-B2CD5F47A36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1105" y="6356353"/>
            <a:ext cx="57447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2566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331" y="320040"/>
            <a:ext cx="4570809" cy="932688"/>
          </a:xfrm>
        </p:spPr>
        <p:txBody>
          <a:bodyPr anchor="b"/>
          <a:lstStyle>
            <a:lvl1pPr>
              <a:defRPr sz="31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1331" y="1380744"/>
            <a:ext cx="4570809" cy="498348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16181" y="0"/>
            <a:ext cx="6272645" cy="685800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8BEB48-A052-9364-6EF6-F698004CA5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910184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417D8113-ECE6-D6F5-9CA4-C96A535F4799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 rot="5400000">
            <a:off x="-997838" y="4687143"/>
            <a:ext cx="2706690" cy="365030"/>
          </a:xfrm>
        </p:spPr>
        <p:txBody>
          <a:bodyPr/>
          <a:lstStyle/>
          <a:p>
            <a:fld id="{7FA43F5B-065E-43CE-B3FD-98C48A6F94D7}" type="datetime1">
              <a:rPr lang="en-US" smtClean="0"/>
              <a:pPr/>
              <a:t>9/3/2026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29A0137-F97A-8194-464D-3B7D4814A8A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16200000" flipH="1">
            <a:off x="-1131254" y="1593005"/>
            <a:ext cx="2973522" cy="36503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3FE5686-63A9-B1A1-5734-F96A9651465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1105" y="6356353"/>
            <a:ext cx="57447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9681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330" y="5012268"/>
            <a:ext cx="3738922" cy="1390330"/>
          </a:xfrm>
        </p:spPr>
        <p:txBody>
          <a:bodyPr anchor="t">
            <a:normAutofit/>
          </a:bodyPr>
          <a:lstStyle>
            <a:lvl1pPr>
              <a:defRPr sz="31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825" cy="4635132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485E715F-A05B-F2BC-ABF4-447E9B58E0C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 rot="16200000">
            <a:off x="-499092" y="5684357"/>
            <a:ext cx="1709209" cy="365030"/>
          </a:xfrm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5058" y="5012267"/>
            <a:ext cx="6399133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</a:defRPr>
            </a:lvl1pPr>
            <a:lvl2pPr marL="228535" indent="0"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</a:defRPr>
            </a:lvl2pPr>
            <a:lvl3pPr marL="457071" indent="0"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</a:defRPr>
            </a:lvl3pPr>
            <a:lvl4pPr marL="685606" indent="0">
              <a:buFont typeface="Arial" panose="020B0604020202020204" pitchFamily="34" charset="0"/>
              <a:buNone/>
              <a:defRPr sz="1200">
                <a:solidFill>
                  <a:schemeClr val="tx1"/>
                </a:solidFill>
              </a:defRPr>
            </a:lvl4pPr>
            <a:lvl5pPr marL="914141" indent="0">
              <a:buFont typeface="Arial" panose="020B0604020202020204" pitchFamily="34" charset="0"/>
              <a:buNone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1170891" y="5435121"/>
            <a:ext cx="1210734" cy="36503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A2B6090-1D21-5610-7943-4C4F96A6C7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" y="4638230"/>
            <a:ext cx="1218882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67773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913" y="4882896"/>
            <a:ext cx="3656650" cy="1453896"/>
          </a:xfrm>
        </p:spPr>
        <p:txBody>
          <a:bodyPr anchor="t">
            <a:normAutofit/>
          </a:bodyPr>
          <a:lstStyle>
            <a:lvl1pPr algn="ctr">
              <a:defRPr sz="31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838F5DE0-1AA8-5320-EBEC-7B2EEF39963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1330" y="548645"/>
            <a:ext cx="3489266" cy="4041647"/>
          </a:xfrm>
          <a:custGeom>
            <a:avLst/>
            <a:gdLst>
              <a:gd name="connsiteX0" fmla="*/ 1745088 w 3490175"/>
              <a:gd name="connsiteY0" fmla="*/ 0 h 4041647"/>
              <a:gd name="connsiteX1" fmla="*/ 3490175 w 3490175"/>
              <a:gd name="connsiteY1" fmla="*/ 1745088 h 4041647"/>
              <a:gd name="connsiteX2" fmla="*/ 3490175 w 3490175"/>
              <a:gd name="connsiteY2" fmla="*/ 3141232 h 4041647"/>
              <a:gd name="connsiteX3" fmla="*/ 3490175 w 3490175"/>
              <a:gd name="connsiteY3" fmla="*/ 3490175 h 4041647"/>
              <a:gd name="connsiteX4" fmla="*/ 3490175 w 3490175"/>
              <a:gd name="connsiteY4" fmla="*/ 4041647 h 4041647"/>
              <a:gd name="connsiteX5" fmla="*/ 0 w 3490175"/>
              <a:gd name="connsiteY5" fmla="*/ 4041647 h 4041647"/>
              <a:gd name="connsiteX6" fmla="*/ 0 w 3490175"/>
              <a:gd name="connsiteY6" fmla="*/ 3490175 h 4041647"/>
              <a:gd name="connsiteX7" fmla="*/ 0 w 3490175"/>
              <a:gd name="connsiteY7" fmla="*/ 3141232 h 4041647"/>
              <a:gd name="connsiteX8" fmla="*/ 0 w 3490175"/>
              <a:gd name="connsiteY8" fmla="*/ 1745088 h 4041647"/>
              <a:gd name="connsiteX9" fmla="*/ 1745088 w 3490175"/>
              <a:gd name="connsiteY9" fmla="*/ 0 h 4041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490175" h="4041647">
                <a:moveTo>
                  <a:pt x="1745088" y="0"/>
                </a:moveTo>
                <a:cubicBezTo>
                  <a:pt x="2708873" y="0"/>
                  <a:pt x="3490175" y="781302"/>
                  <a:pt x="3490175" y="1745088"/>
                </a:cubicBezTo>
                <a:lnTo>
                  <a:pt x="3490175" y="3141232"/>
                </a:lnTo>
                <a:lnTo>
                  <a:pt x="3490175" y="3490175"/>
                </a:lnTo>
                <a:lnTo>
                  <a:pt x="3490175" y="4041647"/>
                </a:lnTo>
                <a:lnTo>
                  <a:pt x="0" y="4041647"/>
                </a:lnTo>
                <a:lnTo>
                  <a:pt x="0" y="3490175"/>
                </a:lnTo>
                <a:lnTo>
                  <a:pt x="0" y="3141232"/>
                </a:lnTo>
                <a:lnTo>
                  <a:pt x="0" y="1745088"/>
                </a:lnTo>
                <a:cubicBezTo>
                  <a:pt x="0" y="781302"/>
                  <a:pt x="781302" y="0"/>
                  <a:pt x="1745088" y="0"/>
                </a:cubicBezTo>
                <a:close/>
              </a:path>
            </a:pathLst>
          </a:custGeom>
          <a:blipFill dpi="0" rotWithShape="1">
            <a:blip r:embed="rId2">
              <a:alphaModFix amt="81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6350">
            <a:solidFill>
              <a:schemeClr val="tx1"/>
            </a:solidFill>
          </a:ln>
        </p:spPr>
        <p:txBody>
          <a:bodyPr wrap="square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36475" y="549275"/>
            <a:ext cx="6559429" cy="57594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19C3A72-7CAE-129F-7490-B687280EF1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644907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811823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979" y="559341"/>
            <a:ext cx="10752868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3C89FBB9-2C05-A4C1-ECB4-D6A5C4219E4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16200000" flipH="1">
            <a:off x="-1131254" y="1593005"/>
            <a:ext cx="2973522" cy="36503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BBB07A11-50DE-6BC0-0514-6E2C14A47985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 rot="16200000" flipH="1">
            <a:off x="-997839" y="4594994"/>
            <a:ext cx="2706690" cy="365030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03ED5F49-F9F7-05A9-62AC-C9C8DF2EADE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8547" y="6264204"/>
            <a:ext cx="57447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1015" y="1713654"/>
            <a:ext cx="4385870" cy="46129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7455" y="1713656"/>
            <a:ext cx="6531369" cy="5144347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US" dirty="0"/>
            </a:lvl1pPr>
          </a:lstStyle>
          <a:p>
            <a:pPr marL="285669" lvl="0" indent="-285669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0166281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7BBF55A-D91F-143D-FBB6-73995F00E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6866" y="4937761"/>
            <a:ext cx="6985718" cy="1353312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spcBef>
                <a:spcPts val="1000"/>
              </a:spcBef>
              <a:defRPr sz="2799" cap="none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72A4B4E-0B2F-F1BB-322A-713D1FB5F2F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056865" y="549024"/>
            <a:ext cx="9452688" cy="4333875"/>
          </a:xfrm>
        </p:spPr>
        <p:txBody>
          <a:bodyPr anchor="b">
            <a:normAutofit/>
          </a:bodyPr>
          <a:lstStyle>
            <a:lvl1pPr>
              <a:defRPr sz="23193">
                <a:latin typeface="+mj-lt"/>
              </a:defRPr>
            </a:lvl1pPr>
          </a:lstStyle>
          <a:p>
            <a:pPr lvl="0"/>
            <a:r>
              <a:rPr lang="en-US"/>
              <a:t>##%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5AD3D17-73C9-402C-91E7-BA73E6829C50}" type="datetime1">
              <a:rPr lang="en-US" smtClean="0"/>
              <a:pPr/>
              <a:t>9/3/2026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546D47F-2AE5-2705-911C-52BBD6B7D8EA}"/>
              </a:ext>
            </a:extLst>
          </p:cNvPr>
          <p:cNvCxnSpPr>
            <a:cxnSpLocks/>
          </p:cNvCxnSpPr>
          <p:nvPr/>
        </p:nvCxnSpPr>
        <p:spPr>
          <a:xfrm flipV="1">
            <a:off x="1371243" y="0"/>
            <a:ext cx="0" cy="6858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59670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 userDrawn="1">
          <p15:clr>
            <a:srgbClr val="FBAE40"/>
          </p15:clr>
        </p15:guide>
        <p15:guide id="6" pos="384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488" y="-1228126"/>
            <a:ext cx="10649986" cy="1133856"/>
          </a:xfrm>
        </p:spPr>
        <p:txBody>
          <a:bodyPr/>
          <a:lstStyle>
            <a:lvl1pPr>
              <a:defRPr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AA4897F-B66E-DAD4-F56C-6152B417CC5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623456" y="2268751"/>
            <a:ext cx="6941916" cy="3954255"/>
          </a:xfrm>
        </p:spPr>
        <p:txBody>
          <a:bodyPr anchor="ctr" anchorCtr="0">
            <a:noAutofit/>
          </a:bodyPr>
          <a:lstStyle>
            <a:lvl1pPr marL="0" indent="0" algn="ctr">
              <a:lnSpc>
                <a:spcPct val="110000"/>
              </a:lnSpc>
              <a:buNone/>
              <a:defRPr sz="4399" b="0" cap="all" baseline="0">
                <a:solidFill>
                  <a:schemeClr val="tx1"/>
                </a:solidFill>
              </a:defRPr>
            </a:lvl1pPr>
            <a:lvl2pPr marL="228535" indent="0" algn="ctr">
              <a:lnSpc>
                <a:spcPct val="110000"/>
              </a:lnSpc>
              <a:buNone/>
              <a:defRPr sz="4399" b="0" cap="all" baseline="0">
                <a:solidFill>
                  <a:schemeClr val="tx1"/>
                </a:solidFill>
              </a:defRPr>
            </a:lvl2pPr>
            <a:lvl3pPr marL="457071" indent="0" algn="ctr">
              <a:lnSpc>
                <a:spcPct val="110000"/>
              </a:lnSpc>
              <a:buNone/>
              <a:defRPr sz="4399" b="0" cap="all" baseline="0">
                <a:solidFill>
                  <a:schemeClr val="tx1"/>
                </a:solidFill>
              </a:defRPr>
            </a:lvl3pPr>
            <a:lvl4pPr marL="685606" indent="0" algn="ctr">
              <a:lnSpc>
                <a:spcPct val="110000"/>
              </a:lnSpc>
              <a:buNone/>
              <a:defRPr sz="4399" b="0" cap="all" baseline="0">
                <a:solidFill>
                  <a:schemeClr val="tx1"/>
                </a:solidFill>
              </a:defRPr>
            </a:lvl4pPr>
            <a:lvl5pPr marL="914141" indent="0" algn="ctr">
              <a:lnSpc>
                <a:spcPct val="110000"/>
              </a:lnSpc>
              <a:buNone/>
              <a:defRPr sz="4399" b="0" cap="all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reeform: Shape 15">
            <a:extLst>
              <a:ext uri="{FF2B5EF4-FFF2-40B4-BE49-F238E27FC236}">
                <a16:creationId xmlns:a16="http://schemas.microsoft.com/office/drawing/2014/main" id="{8EFA7EFC-C6F9-B1D5-025F-824C1CE9A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3055618" y="-1429010"/>
            <a:ext cx="6077590" cy="10507968"/>
          </a:xfrm>
          <a:custGeom>
            <a:avLst/>
            <a:gdLst>
              <a:gd name="connsiteX0" fmla="*/ 5325805 w 5325805"/>
              <a:gd name="connsiteY0" fmla="*/ 2714782 h 5429563"/>
              <a:gd name="connsiteX1" fmla="*/ 2611024 w 5325805"/>
              <a:gd name="connsiteY1" fmla="*/ 5429563 h 5429563"/>
              <a:gd name="connsiteX2" fmla="*/ 1942188 w 5325805"/>
              <a:gd name="connsiteY2" fmla="*/ 5429563 h 5429563"/>
              <a:gd name="connsiteX3" fmla="*/ 668836 w 5325805"/>
              <a:gd name="connsiteY3" fmla="*/ 5429563 h 5429563"/>
              <a:gd name="connsiteX4" fmla="*/ 0 w 5325805"/>
              <a:gd name="connsiteY4" fmla="*/ 5429563 h 5429563"/>
              <a:gd name="connsiteX5" fmla="*/ 0 w 5325805"/>
              <a:gd name="connsiteY5" fmla="*/ 0 h 5429563"/>
              <a:gd name="connsiteX6" fmla="*/ 668836 w 5325805"/>
              <a:gd name="connsiteY6" fmla="*/ 0 h 5429563"/>
              <a:gd name="connsiteX7" fmla="*/ 1942188 w 5325805"/>
              <a:gd name="connsiteY7" fmla="*/ 0 h 5429563"/>
              <a:gd name="connsiteX8" fmla="*/ 2611024 w 5325805"/>
              <a:gd name="connsiteY8" fmla="*/ 0 h 5429563"/>
              <a:gd name="connsiteX9" fmla="*/ 5325805 w 5325805"/>
              <a:gd name="connsiteY9" fmla="*/ 2714782 h 5429563"/>
              <a:gd name="connsiteX0" fmla="*/ 668836 w 5325805"/>
              <a:gd name="connsiteY0" fmla="*/ 5429563 h 5476799"/>
              <a:gd name="connsiteX1" fmla="*/ 0 w 5325805"/>
              <a:gd name="connsiteY1" fmla="*/ 5429563 h 5476799"/>
              <a:gd name="connsiteX2" fmla="*/ 0 w 5325805"/>
              <a:gd name="connsiteY2" fmla="*/ 0 h 5476799"/>
              <a:gd name="connsiteX3" fmla="*/ 668836 w 5325805"/>
              <a:gd name="connsiteY3" fmla="*/ 0 h 5476799"/>
              <a:gd name="connsiteX4" fmla="*/ 1942188 w 5325805"/>
              <a:gd name="connsiteY4" fmla="*/ 0 h 5476799"/>
              <a:gd name="connsiteX5" fmla="*/ 2611024 w 5325805"/>
              <a:gd name="connsiteY5" fmla="*/ 0 h 5476799"/>
              <a:gd name="connsiteX6" fmla="*/ 5325805 w 5325805"/>
              <a:gd name="connsiteY6" fmla="*/ 2714782 h 5476799"/>
              <a:gd name="connsiteX7" fmla="*/ 2611024 w 5325805"/>
              <a:gd name="connsiteY7" fmla="*/ 5429563 h 5476799"/>
              <a:gd name="connsiteX8" fmla="*/ 1942188 w 5325805"/>
              <a:gd name="connsiteY8" fmla="*/ 5429563 h 5476799"/>
              <a:gd name="connsiteX9" fmla="*/ 716072 w 5325805"/>
              <a:gd name="connsiteY9" fmla="*/ 5476799 h 5476799"/>
              <a:gd name="connsiteX0" fmla="*/ 668836 w 5325805"/>
              <a:gd name="connsiteY0" fmla="*/ 5429563 h 5429563"/>
              <a:gd name="connsiteX1" fmla="*/ 0 w 5325805"/>
              <a:gd name="connsiteY1" fmla="*/ 5429563 h 5429563"/>
              <a:gd name="connsiteX2" fmla="*/ 0 w 5325805"/>
              <a:gd name="connsiteY2" fmla="*/ 0 h 5429563"/>
              <a:gd name="connsiteX3" fmla="*/ 668836 w 5325805"/>
              <a:gd name="connsiteY3" fmla="*/ 0 h 5429563"/>
              <a:gd name="connsiteX4" fmla="*/ 1942188 w 5325805"/>
              <a:gd name="connsiteY4" fmla="*/ 0 h 5429563"/>
              <a:gd name="connsiteX5" fmla="*/ 2611024 w 5325805"/>
              <a:gd name="connsiteY5" fmla="*/ 0 h 5429563"/>
              <a:gd name="connsiteX6" fmla="*/ 5325805 w 5325805"/>
              <a:gd name="connsiteY6" fmla="*/ 2714782 h 5429563"/>
              <a:gd name="connsiteX7" fmla="*/ 2611024 w 5325805"/>
              <a:gd name="connsiteY7" fmla="*/ 5429563 h 5429563"/>
              <a:gd name="connsiteX8" fmla="*/ 1942188 w 5325805"/>
              <a:gd name="connsiteY8" fmla="*/ 5429563 h 5429563"/>
              <a:gd name="connsiteX0" fmla="*/ 0 w 5325805"/>
              <a:gd name="connsiteY0" fmla="*/ 5429563 h 5429563"/>
              <a:gd name="connsiteX1" fmla="*/ 0 w 5325805"/>
              <a:gd name="connsiteY1" fmla="*/ 0 h 5429563"/>
              <a:gd name="connsiteX2" fmla="*/ 668836 w 5325805"/>
              <a:gd name="connsiteY2" fmla="*/ 0 h 5429563"/>
              <a:gd name="connsiteX3" fmla="*/ 1942188 w 5325805"/>
              <a:gd name="connsiteY3" fmla="*/ 0 h 5429563"/>
              <a:gd name="connsiteX4" fmla="*/ 2611024 w 5325805"/>
              <a:gd name="connsiteY4" fmla="*/ 0 h 5429563"/>
              <a:gd name="connsiteX5" fmla="*/ 5325805 w 5325805"/>
              <a:gd name="connsiteY5" fmla="*/ 2714782 h 5429563"/>
              <a:gd name="connsiteX6" fmla="*/ 2611024 w 5325805"/>
              <a:gd name="connsiteY6" fmla="*/ 5429563 h 5429563"/>
              <a:gd name="connsiteX7" fmla="*/ 1942188 w 5325805"/>
              <a:gd name="connsiteY7" fmla="*/ 5429563 h 5429563"/>
              <a:gd name="connsiteX0" fmla="*/ 0 w 5325805"/>
              <a:gd name="connsiteY0" fmla="*/ 0 h 5429563"/>
              <a:gd name="connsiteX1" fmla="*/ 668836 w 5325805"/>
              <a:gd name="connsiteY1" fmla="*/ 0 h 5429563"/>
              <a:gd name="connsiteX2" fmla="*/ 1942188 w 5325805"/>
              <a:gd name="connsiteY2" fmla="*/ 0 h 5429563"/>
              <a:gd name="connsiteX3" fmla="*/ 2611024 w 5325805"/>
              <a:gd name="connsiteY3" fmla="*/ 0 h 5429563"/>
              <a:gd name="connsiteX4" fmla="*/ 5325805 w 5325805"/>
              <a:gd name="connsiteY4" fmla="*/ 2714782 h 5429563"/>
              <a:gd name="connsiteX5" fmla="*/ 2611024 w 5325805"/>
              <a:gd name="connsiteY5" fmla="*/ 5429563 h 5429563"/>
              <a:gd name="connsiteX6" fmla="*/ 1942188 w 5325805"/>
              <a:gd name="connsiteY6" fmla="*/ 5429563 h 5429563"/>
              <a:gd name="connsiteX0" fmla="*/ 0 w 4656969"/>
              <a:gd name="connsiteY0" fmla="*/ 0 h 5429563"/>
              <a:gd name="connsiteX1" fmla="*/ 1273352 w 4656969"/>
              <a:gd name="connsiteY1" fmla="*/ 0 h 5429563"/>
              <a:gd name="connsiteX2" fmla="*/ 1942188 w 4656969"/>
              <a:gd name="connsiteY2" fmla="*/ 0 h 5429563"/>
              <a:gd name="connsiteX3" fmla="*/ 4656969 w 4656969"/>
              <a:gd name="connsiteY3" fmla="*/ 2714782 h 5429563"/>
              <a:gd name="connsiteX4" fmla="*/ 1942188 w 4656969"/>
              <a:gd name="connsiteY4" fmla="*/ 5429563 h 5429563"/>
              <a:gd name="connsiteX5" fmla="*/ 1273352 w 4656969"/>
              <a:gd name="connsiteY5" fmla="*/ 5429563 h 5429563"/>
              <a:gd name="connsiteX0" fmla="*/ 0 w 3383617"/>
              <a:gd name="connsiteY0" fmla="*/ 0 h 5429563"/>
              <a:gd name="connsiteX1" fmla="*/ 668836 w 3383617"/>
              <a:gd name="connsiteY1" fmla="*/ 0 h 5429563"/>
              <a:gd name="connsiteX2" fmla="*/ 3383617 w 3383617"/>
              <a:gd name="connsiteY2" fmla="*/ 2714782 h 5429563"/>
              <a:gd name="connsiteX3" fmla="*/ 668836 w 3383617"/>
              <a:gd name="connsiteY3" fmla="*/ 5429563 h 5429563"/>
              <a:gd name="connsiteX4" fmla="*/ 0 w 3383617"/>
              <a:gd name="connsiteY4" fmla="*/ 5429563 h 5429563"/>
              <a:gd name="connsiteX0" fmla="*/ 0 w 3383617"/>
              <a:gd name="connsiteY0" fmla="*/ 0 h 5429563"/>
              <a:gd name="connsiteX1" fmla="*/ 248198 w 3383617"/>
              <a:gd name="connsiteY1" fmla="*/ 41 h 5429563"/>
              <a:gd name="connsiteX2" fmla="*/ 668836 w 3383617"/>
              <a:gd name="connsiteY2" fmla="*/ 0 h 5429563"/>
              <a:gd name="connsiteX3" fmla="*/ 3383617 w 3383617"/>
              <a:gd name="connsiteY3" fmla="*/ 2714782 h 5429563"/>
              <a:gd name="connsiteX4" fmla="*/ 668836 w 3383617"/>
              <a:gd name="connsiteY4" fmla="*/ 5429563 h 5429563"/>
              <a:gd name="connsiteX5" fmla="*/ 0 w 3383617"/>
              <a:gd name="connsiteY5" fmla="*/ 5429563 h 5429563"/>
              <a:gd name="connsiteX0" fmla="*/ 248198 w 3383617"/>
              <a:gd name="connsiteY0" fmla="*/ 41 h 5429563"/>
              <a:gd name="connsiteX1" fmla="*/ 668836 w 3383617"/>
              <a:gd name="connsiteY1" fmla="*/ 0 h 5429563"/>
              <a:gd name="connsiteX2" fmla="*/ 3383617 w 3383617"/>
              <a:gd name="connsiteY2" fmla="*/ 2714782 h 5429563"/>
              <a:gd name="connsiteX3" fmla="*/ 668836 w 3383617"/>
              <a:gd name="connsiteY3" fmla="*/ 5429563 h 5429563"/>
              <a:gd name="connsiteX4" fmla="*/ 0 w 3383617"/>
              <a:gd name="connsiteY4" fmla="*/ 5429563 h 5429563"/>
              <a:gd name="connsiteX0" fmla="*/ 4110 w 3139529"/>
              <a:gd name="connsiteY0" fmla="*/ 41 h 5429563"/>
              <a:gd name="connsiteX1" fmla="*/ 424748 w 3139529"/>
              <a:gd name="connsiteY1" fmla="*/ 0 h 5429563"/>
              <a:gd name="connsiteX2" fmla="*/ 3139529 w 3139529"/>
              <a:gd name="connsiteY2" fmla="*/ 2714782 h 5429563"/>
              <a:gd name="connsiteX3" fmla="*/ 424748 w 3139529"/>
              <a:gd name="connsiteY3" fmla="*/ 5429563 h 5429563"/>
              <a:gd name="connsiteX4" fmla="*/ 0 w 3139529"/>
              <a:gd name="connsiteY4" fmla="*/ 5429563 h 5429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39529" h="5429563">
                <a:moveTo>
                  <a:pt x="4110" y="41"/>
                </a:moveTo>
                <a:lnTo>
                  <a:pt x="424748" y="0"/>
                </a:lnTo>
                <a:cubicBezTo>
                  <a:pt x="1924080" y="0"/>
                  <a:pt x="3139529" y="1215450"/>
                  <a:pt x="3139529" y="2714782"/>
                </a:cubicBezTo>
                <a:cubicBezTo>
                  <a:pt x="3139529" y="4214114"/>
                  <a:pt x="1924080" y="5429563"/>
                  <a:pt x="424748" y="5429563"/>
                </a:cubicBezTo>
                <a:lnTo>
                  <a:pt x="0" y="5429563"/>
                </a:lnTo>
              </a:path>
            </a:pathLst>
          </a:cu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776279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6D87B9B-22A3-322E-B7E8-223255AD09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9403" y="5669280"/>
            <a:ext cx="6310020" cy="466344"/>
          </a:xfrm>
        </p:spPr>
        <p:txBody>
          <a:bodyPr anchor="ctr">
            <a:normAutofit/>
          </a:bodyPr>
          <a:lstStyle>
            <a:lvl1pPr algn="ctr">
              <a:lnSpc>
                <a:spcPct val="110000"/>
              </a:lnSpc>
              <a:spcBef>
                <a:spcPts val="1000"/>
              </a:spcBef>
              <a:defRPr sz="1800" cap="all" baseline="0">
                <a:latin typeface="+mn-lt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6A9BC83F-8FE5-5223-2B3A-6E122D33630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596459" y="1744578"/>
            <a:ext cx="6995908" cy="3507906"/>
          </a:xfrm>
        </p:spPr>
        <p:txBody>
          <a:bodyPr anchor="b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defRPr sz="5999" cap="all" baseline="0">
                <a:latin typeface="+mn-lt"/>
              </a:defRPr>
            </a:lvl1pPr>
          </a:lstStyle>
          <a:p>
            <a:pPr lvl="0"/>
            <a:r>
              <a:rPr lang="en-US"/>
              <a:t>Click to add Quote</a:t>
            </a:r>
          </a:p>
        </p:txBody>
      </p:sp>
      <p:sp>
        <p:nvSpPr>
          <p:cNvPr id="9" name="Freeform: Shape 15">
            <a:extLst>
              <a:ext uri="{FF2B5EF4-FFF2-40B4-BE49-F238E27FC236}">
                <a16:creationId xmlns:a16="http://schemas.microsoft.com/office/drawing/2014/main" id="{9F353A57-FA3C-A68C-4908-E774A52CB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2809792" y="-1680604"/>
            <a:ext cx="6569242" cy="10507968"/>
          </a:xfrm>
          <a:custGeom>
            <a:avLst/>
            <a:gdLst>
              <a:gd name="connsiteX0" fmla="*/ 5325805 w 5325805"/>
              <a:gd name="connsiteY0" fmla="*/ 2714782 h 5429563"/>
              <a:gd name="connsiteX1" fmla="*/ 2611024 w 5325805"/>
              <a:gd name="connsiteY1" fmla="*/ 5429563 h 5429563"/>
              <a:gd name="connsiteX2" fmla="*/ 1942188 w 5325805"/>
              <a:gd name="connsiteY2" fmla="*/ 5429563 h 5429563"/>
              <a:gd name="connsiteX3" fmla="*/ 668836 w 5325805"/>
              <a:gd name="connsiteY3" fmla="*/ 5429563 h 5429563"/>
              <a:gd name="connsiteX4" fmla="*/ 0 w 5325805"/>
              <a:gd name="connsiteY4" fmla="*/ 5429563 h 5429563"/>
              <a:gd name="connsiteX5" fmla="*/ 0 w 5325805"/>
              <a:gd name="connsiteY5" fmla="*/ 0 h 5429563"/>
              <a:gd name="connsiteX6" fmla="*/ 668836 w 5325805"/>
              <a:gd name="connsiteY6" fmla="*/ 0 h 5429563"/>
              <a:gd name="connsiteX7" fmla="*/ 1942188 w 5325805"/>
              <a:gd name="connsiteY7" fmla="*/ 0 h 5429563"/>
              <a:gd name="connsiteX8" fmla="*/ 2611024 w 5325805"/>
              <a:gd name="connsiteY8" fmla="*/ 0 h 5429563"/>
              <a:gd name="connsiteX9" fmla="*/ 5325805 w 5325805"/>
              <a:gd name="connsiteY9" fmla="*/ 2714782 h 5429563"/>
              <a:gd name="connsiteX0" fmla="*/ 668836 w 5325805"/>
              <a:gd name="connsiteY0" fmla="*/ 5429563 h 5476799"/>
              <a:gd name="connsiteX1" fmla="*/ 0 w 5325805"/>
              <a:gd name="connsiteY1" fmla="*/ 5429563 h 5476799"/>
              <a:gd name="connsiteX2" fmla="*/ 0 w 5325805"/>
              <a:gd name="connsiteY2" fmla="*/ 0 h 5476799"/>
              <a:gd name="connsiteX3" fmla="*/ 668836 w 5325805"/>
              <a:gd name="connsiteY3" fmla="*/ 0 h 5476799"/>
              <a:gd name="connsiteX4" fmla="*/ 1942188 w 5325805"/>
              <a:gd name="connsiteY4" fmla="*/ 0 h 5476799"/>
              <a:gd name="connsiteX5" fmla="*/ 2611024 w 5325805"/>
              <a:gd name="connsiteY5" fmla="*/ 0 h 5476799"/>
              <a:gd name="connsiteX6" fmla="*/ 5325805 w 5325805"/>
              <a:gd name="connsiteY6" fmla="*/ 2714782 h 5476799"/>
              <a:gd name="connsiteX7" fmla="*/ 2611024 w 5325805"/>
              <a:gd name="connsiteY7" fmla="*/ 5429563 h 5476799"/>
              <a:gd name="connsiteX8" fmla="*/ 1942188 w 5325805"/>
              <a:gd name="connsiteY8" fmla="*/ 5429563 h 5476799"/>
              <a:gd name="connsiteX9" fmla="*/ 716072 w 5325805"/>
              <a:gd name="connsiteY9" fmla="*/ 5476799 h 5476799"/>
              <a:gd name="connsiteX0" fmla="*/ 668836 w 5325805"/>
              <a:gd name="connsiteY0" fmla="*/ 5429563 h 5429563"/>
              <a:gd name="connsiteX1" fmla="*/ 0 w 5325805"/>
              <a:gd name="connsiteY1" fmla="*/ 5429563 h 5429563"/>
              <a:gd name="connsiteX2" fmla="*/ 0 w 5325805"/>
              <a:gd name="connsiteY2" fmla="*/ 0 h 5429563"/>
              <a:gd name="connsiteX3" fmla="*/ 668836 w 5325805"/>
              <a:gd name="connsiteY3" fmla="*/ 0 h 5429563"/>
              <a:gd name="connsiteX4" fmla="*/ 1942188 w 5325805"/>
              <a:gd name="connsiteY4" fmla="*/ 0 h 5429563"/>
              <a:gd name="connsiteX5" fmla="*/ 2611024 w 5325805"/>
              <a:gd name="connsiteY5" fmla="*/ 0 h 5429563"/>
              <a:gd name="connsiteX6" fmla="*/ 5325805 w 5325805"/>
              <a:gd name="connsiteY6" fmla="*/ 2714782 h 5429563"/>
              <a:gd name="connsiteX7" fmla="*/ 2611024 w 5325805"/>
              <a:gd name="connsiteY7" fmla="*/ 5429563 h 5429563"/>
              <a:gd name="connsiteX8" fmla="*/ 1942188 w 5325805"/>
              <a:gd name="connsiteY8" fmla="*/ 5429563 h 5429563"/>
              <a:gd name="connsiteX0" fmla="*/ 0 w 5325805"/>
              <a:gd name="connsiteY0" fmla="*/ 5429563 h 5429563"/>
              <a:gd name="connsiteX1" fmla="*/ 0 w 5325805"/>
              <a:gd name="connsiteY1" fmla="*/ 0 h 5429563"/>
              <a:gd name="connsiteX2" fmla="*/ 668836 w 5325805"/>
              <a:gd name="connsiteY2" fmla="*/ 0 h 5429563"/>
              <a:gd name="connsiteX3" fmla="*/ 1942188 w 5325805"/>
              <a:gd name="connsiteY3" fmla="*/ 0 h 5429563"/>
              <a:gd name="connsiteX4" fmla="*/ 2611024 w 5325805"/>
              <a:gd name="connsiteY4" fmla="*/ 0 h 5429563"/>
              <a:gd name="connsiteX5" fmla="*/ 5325805 w 5325805"/>
              <a:gd name="connsiteY5" fmla="*/ 2714782 h 5429563"/>
              <a:gd name="connsiteX6" fmla="*/ 2611024 w 5325805"/>
              <a:gd name="connsiteY6" fmla="*/ 5429563 h 5429563"/>
              <a:gd name="connsiteX7" fmla="*/ 1942188 w 5325805"/>
              <a:gd name="connsiteY7" fmla="*/ 5429563 h 5429563"/>
              <a:gd name="connsiteX0" fmla="*/ 0 w 5325805"/>
              <a:gd name="connsiteY0" fmla="*/ 0 h 5429563"/>
              <a:gd name="connsiteX1" fmla="*/ 668836 w 5325805"/>
              <a:gd name="connsiteY1" fmla="*/ 0 h 5429563"/>
              <a:gd name="connsiteX2" fmla="*/ 1942188 w 5325805"/>
              <a:gd name="connsiteY2" fmla="*/ 0 h 5429563"/>
              <a:gd name="connsiteX3" fmla="*/ 2611024 w 5325805"/>
              <a:gd name="connsiteY3" fmla="*/ 0 h 5429563"/>
              <a:gd name="connsiteX4" fmla="*/ 5325805 w 5325805"/>
              <a:gd name="connsiteY4" fmla="*/ 2714782 h 5429563"/>
              <a:gd name="connsiteX5" fmla="*/ 2611024 w 5325805"/>
              <a:gd name="connsiteY5" fmla="*/ 5429563 h 5429563"/>
              <a:gd name="connsiteX6" fmla="*/ 1942188 w 5325805"/>
              <a:gd name="connsiteY6" fmla="*/ 5429563 h 5429563"/>
              <a:gd name="connsiteX0" fmla="*/ 0 w 4656969"/>
              <a:gd name="connsiteY0" fmla="*/ 0 h 5429563"/>
              <a:gd name="connsiteX1" fmla="*/ 1273352 w 4656969"/>
              <a:gd name="connsiteY1" fmla="*/ 0 h 5429563"/>
              <a:gd name="connsiteX2" fmla="*/ 1942188 w 4656969"/>
              <a:gd name="connsiteY2" fmla="*/ 0 h 5429563"/>
              <a:gd name="connsiteX3" fmla="*/ 4656969 w 4656969"/>
              <a:gd name="connsiteY3" fmla="*/ 2714782 h 5429563"/>
              <a:gd name="connsiteX4" fmla="*/ 1942188 w 4656969"/>
              <a:gd name="connsiteY4" fmla="*/ 5429563 h 5429563"/>
              <a:gd name="connsiteX5" fmla="*/ 1273352 w 4656969"/>
              <a:gd name="connsiteY5" fmla="*/ 5429563 h 5429563"/>
              <a:gd name="connsiteX0" fmla="*/ 0 w 3383617"/>
              <a:gd name="connsiteY0" fmla="*/ 0 h 5429563"/>
              <a:gd name="connsiteX1" fmla="*/ 668836 w 3383617"/>
              <a:gd name="connsiteY1" fmla="*/ 0 h 5429563"/>
              <a:gd name="connsiteX2" fmla="*/ 3383617 w 3383617"/>
              <a:gd name="connsiteY2" fmla="*/ 2714782 h 5429563"/>
              <a:gd name="connsiteX3" fmla="*/ 668836 w 3383617"/>
              <a:gd name="connsiteY3" fmla="*/ 5429563 h 5429563"/>
              <a:gd name="connsiteX4" fmla="*/ 0 w 3383617"/>
              <a:gd name="connsiteY4" fmla="*/ 5429563 h 5429563"/>
              <a:gd name="connsiteX0" fmla="*/ 0 w 3383617"/>
              <a:gd name="connsiteY0" fmla="*/ 0 h 5429563"/>
              <a:gd name="connsiteX1" fmla="*/ 248198 w 3383617"/>
              <a:gd name="connsiteY1" fmla="*/ 41 h 5429563"/>
              <a:gd name="connsiteX2" fmla="*/ 668836 w 3383617"/>
              <a:gd name="connsiteY2" fmla="*/ 0 h 5429563"/>
              <a:gd name="connsiteX3" fmla="*/ 3383617 w 3383617"/>
              <a:gd name="connsiteY3" fmla="*/ 2714782 h 5429563"/>
              <a:gd name="connsiteX4" fmla="*/ 668836 w 3383617"/>
              <a:gd name="connsiteY4" fmla="*/ 5429563 h 5429563"/>
              <a:gd name="connsiteX5" fmla="*/ 0 w 3383617"/>
              <a:gd name="connsiteY5" fmla="*/ 5429563 h 5429563"/>
              <a:gd name="connsiteX0" fmla="*/ 248198 w 3383617"/>
              <a:gd name="connsiteY0" fmla="*/ 41 h 5429563"/>
              <a:gd name="connsiteX1" fmla="*/ 668836 w 3383617"/>
              <a:gd name="connsiteY1" fmla="*/ 0 h 5429563"/>
              <a:gd name="connsiteX2" fmla="*/ 3383617 w 3383617"/>
              <a:gd name="connsiteY2" fmla="*/ 2714782 h 5429563"/>
              <a:gd name="connsiteX3" fmla="*/ 668836 w 3383617"/>
              <a:gd name="connsiteY3" fmla="*/ 5429563 h 5429563"/>
              <a:gd name="connsiteX4" fmla="*/ 0 w 3383617"/>
              <a:gd name="connsiteY4" fmla="*/ 5429563 h 5429563"/>
              <a:gd name="connsiteX0" fmla="*/ 4110 w 3139529"/>
              <a:gd name="connsiteY0" fmla="*/ 41 h 5429563"/>
              <a:gd name="connsiteX1" fmla="*/ 424748 w 3139529"/>
              <a:gd name="connsiteY1" fmla="*/ 0 h 5429563"/>
              <a:gd name="connsiteX2" fmla="*/ 3139529 w 3139529"/>
              <a:gd name="connsiteY2" fmla="*/ 2714782 h 5429563"/>
              <a:gd name="connsiteX3" fmla="*/ 424748 w 3139529"/>
              <a:gd name="connsiteY3" fmla="*/ 5429563 h 5429563"/>
              <a:gd name="connsiteX4" fmla="*/ 0 w 3139529"/>
              <a:gd name="connsiteY4" fmla="*/ 5429563 h 5429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39529" h="5429563">
                <a:moveTo>
                  <a:pt x="4110" y="41"/>
                </a:moveTo>
                <a:lnTo>
                  <a:pt x="424748" y="0"/>
                </a:lnTo>
                <a:cubicBezTo>
                  <a:pt x="1924080" y="0"/>
                  <a:pt x="3139529" y="1215450"/>
                  <a:pt x="3139529" y="2714782"/>
                </a:cubicBezTo>
                <a:cubicBezTo>
                  <a:pt x="3139529" y="4214114"/>
                  <a:pt x="1924080" y="5429563"/>
                  <a:pt x="424748" y="5429563"/>
                </a:cubicBezTo>
                <a:lnTo>
                  <a:pt x="0" y="5429563"/>
                </a:lnTo>
              </a:path>
            </a:pathLst>
          </a:cu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D63035D-22A0-4334-A9AE-2457016C8B47}" type="datetime1">
              <a:rPr lang="en-US" smtClean="0"/>
              <a:pPr/>
              <a:t>9/3/2026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1667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 userDrawn="1">
          <p15:clr>
            <a:srgbClr val="FBAE40"/>
          </p15:clr>
        </p15:guide>
        <p15:guide id="6" pos="3840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329" y="365760"/>
            <a:ext cx="10738355" cy="113225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72FE6B-A4D8-8ED7-89D7-5E7F2C5B8F5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31648" y="2103441"/>
            <a:ext cx="5180251" cy="4351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686405AE-ED31-677D-86D8-01EAD583735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83311" y="2103124"/>
            <a:ext cx="5180251" cy="4351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9534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85A6F3D-6630-C2E0-DC0A-6D2C0AACF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329" y="365760"/>
            <a:ext cx="10738355" cy="113225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1331" y="2103120"/>
            <a:ext cx="5156443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071" indent="0">
              <a:buNone/>
              <a:defRPr sz="2000" b="1"/>
            </a:lvl2pPr>
            <a:lvl3pPr marL="914141" indent="0">
              <a:buNone/>
              <a:defRPr sz="1800" b="1"/>
            </a:lvl3pPr>
            <a:lvl4pPr marL="1371212" indent="0">
              <a:buNone/>
              <a:defRPr sz="1600" b="1"/>
            </a:lvl4pPr>
            <a:lvl5pPr marL="1828281" indent="0">
              <a:buNone/>
              <a:defRPr sz="1600" b="1"/>
            </a:lvl5pPr>
            <a:lvl6pPr marL="2285353" indent="0">
              <a:buNone/>
              <a:defRPr sz="1600" b="1"/>
            </a:lvl6pPr>
            <a:lvl7pPr marL="2742422" indent="0">
              <a:buNone/>
              <a:defRPr sz="1600" b="1"/>
            </a:lvl7pPr>
            <a:lvl8pPr marL="3199493" indent="0">
              <a:buNone/>
              <a:defRPr sz="1600" b="1"/>
            </a:lvl8pPr>
            <a:lvl9pPr marL="3656564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9C38DBB1-A1FA-A460-88C8-B05F1570CA9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31648" y="2743203"/>
            <a:ext cx="5155844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7718" y="2103120"/>
            <a:ext cx="518183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071" indent="0">
              <a:buNone/>
              <a:defRPr sz="2000" b="1"/>
            </a:lvl2pPr>
            <a:lvl3pPr marL="914141" indent="0">
              <a:buNone/>
              <a:defRPr sz="1800" b="1"/>
            </a:lvl3pPr>
            <a:lvl4pPr marL="1371212" indent="0">
              <a:buNone/>
              <a:defRPr sz="1600" b="1"/>
            </a:lvl4pPr>
            <a:lvl5pPr marL="1828281" indent="0">
              <a:buNone/>
              <a:defRPr sz="1600" b="1"/>
            </a:lvl5pPr>
            <a:lvl6pPr marL="2285353" indent="0">
              <a:buNone/>
              <a:defRPr sz="1600" b="1"/>
            </a:lvl6pPr>
            <a:lvl7pPr marL="2742422" indent="0">
              <a:buNone/>
              <a:defRPr sz="1600" b="1"/>
            </a:lvl7pPr>
            <a:lvl8pPr marL="3199493" indent="0">
              <a:buNone/>
              <a:defRPr sz="1600" b="1"/>
            </a:lvl8pPr>
            <a:lvl9pPr marL="3656564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82D763CC-A010-6A2B-FEF3-388EAC8417D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07719" y="2743203"/>
            <a:ext cx="518183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00823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0796BC8-E1B7-E6D6-E86F-4A5CAECDF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329" y="365760"/>
            <a:ext cx="10738355" cy="113225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77631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50669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030" y="457200"/>
            <a:ext cx="7340395" cy="1133856"/>
          </a:xfrm>
          <a:noFill/>
        </p:spPr>
        <p:txBody>
          <a:bodyPr anchor="b">
            <a:noAutofit/>
          </a:bodyPr>
          <a:lstStyle>
            <a:lvl1pPr>
              <a:defRPr sz="59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029" y="2624328"/>
            <a:ext cx="10421445" cy="3200400"/>
          </a:xfrm>
          <a:noFill/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535" indent="0">
              <a:buNone/>
              <a:defRPr>
                <a:solidFill>
                  <a:schemeClr val="tx1"/>
                </a:solidFill>
              </a:defRPr>
            </a:lvl2pPr>
            <a:lvl3pPr marL="457071" indent="0">
              <a:buNone/>
              <a:defRPr>
                <a:solidFill>
                  <a:schemeClr val="tx1"/>
                </a:solidFill>
              </a:defRPr>
            </a:lvl3pPr>
            <a:lvl4pPr marL="685606" indent="0">
              <a:buNone/>
              <a:defRPr>
                <a:solidFill>
                  <a:schemeClr val="tx1"/>
                </a:solidFill>
              </a:defRPr>
            </a:lvl4pPr>
            <a:lvl5pPr marL="914141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3518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6">
            <a:extLst>
              <a:ext uri="{FF2B5EF4-FFF2-40B4-BE49-F238E27FC236}">
                <a16:creationId xmlns:a16="http://schemas.microsoft.com/office/drawing/2014/main" id="{CE8CC034-C652-239B-0064-9B0543AC2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329" y="365760"/>
            <a:ext cx="10738355" cy="1132258"/>
          </a:xfrm>
        </p:spPr>
        <p:txBody>
          <a:bodyPr/>
          <a:lstStyle>
            <a:lvl1pPr>
              <a:defRPr lang="en-US" dirty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D051F68D-E2E5-C625-0273-281CE6D4939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1330" y="2301839"/>
            <a:ext cx="10738353" cy="3921165"/>
          </a:xfrm>
          <a:noFill/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535" indent="0">
              <a:buNone/>
              <a:defRPr>
                <a:solidFill>
                  <a:schemeClr val="tx1"/>
                </a:solidFill>
              </a:defRPr>
            </a:lvl2pPr>
            <a:lvl3pPr marL="457071" indent="0">
              <a:buNone/>
              <a:defRPr>
                <a:solidFill>
                  <a:schemeClr val="tx1"/>
                </a:solidFill>
              </a:defRPr>
            </a:lvl3pPr>
            <a:lvl4pPr marL="685606" indent="0">
              <a:buNone/>
              <a:defRPr>
                <a:solidFill>
                  <a:schemeClr val="tx1"/>
                </a:solidFill>
              </a:defRPr>
            </a:lvl4pPr>
            <a:lvl5pPr marL="914141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0272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 userDrawn="1">
          <p15:clr>
            <a:srgbClr val="FBAE40"/>
          </p15:clr>
        </p15:guide>
        <p15:guide id="6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476A66-BE83-43F9-A28B-02DF7879A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982" y="584993"/>
            <a:ext cx="10512862" cy="11168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CB382-EE11-430D-941A-DB76EEB7F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 flipH="1">
            <a:off x="-1131254" y="1593005"/>
            <a:ext cx="2973522" cy="3650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10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D76E94-F276-4F0F-8DD9-B1F8A3198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7982" y="2061472"/>
            <a:ext cx="10512862" cy="41148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AD964E-3A2E-4DB9-B96A-EDE144A47B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422913" y="4687143"/>
            <a:ext cx="2706690" cy="3650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1000"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C562FE-ACD1-43F2-A3DE-5B11E10B7E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9299" y="6356353"/>
            <a:ext cx="5744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rtl="0">
              <a:defRPr sz="100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EB34A3B-1FD5-48FF-9982-1E64C864C01D}"/>
              </a:ext>
            </a:extLst>
          </p:cNvPr>
          <p:cNvCxnSpPr>
            <a:cxnSpLocks/>
          </p:cNvCxnSpPr>
          <p:nvPr/>
        </p:nvCxnSpPr>
        <p:spPr>
          <a:xfrm flipH="1">
            <a:off x="5" y="1824111"/>
            <a:ext cx="1218882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6727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  <p:sldLayoutId id="2147483721" r:id="rId5"/>
    <p:sldLayoutId id="2147483722" r:id="rId6"/>
    <p:sldLayoutId id="2147483723" r:id="rId7"/>
    <p:sldLayoutId id="2147483724" r:id="rId8"/>
    <p:sldLayoutId id="2147483725" r:id="rId9"/>
    <p:sldLayoutId id="2147483726" r:id="rId10"/>
    <p:sldLayoutId id="2147483727" r:id="rId11"/>
    <p:sldLayoutId id="2147483728" r:id="rId12"/>
    <p:sldLayoutId id="2147483729" r:id="rId13"/>
    <p:sldLayoutId id="2147483730" r:id="rId14"/>
    <p:sldLayoutId id="2147483731" r:id="rId15"/>
    <p:sldLayoutId id="2147483732" r:id="rId16"/>
    <p:sldLayoutId id="2147483733" r:id="rId17"/>
    <p:sldLayoutId id="2147483734" r:id="rId18"/>
    <p:sldLayoutId id="2147483735" r:id="rId19"/>
    <p:sldLayoutId id="2147483736" r:id="rId20"/>
    <p:sldLayoutId id="2147483737" r:id="rId21"/>
    <p:sldLayoutId id="2147483738" r:id="rId22"/>
    <p:sldLayoutId id="2147483739" r:id="rId23"/>
    <p:sldLayoutId id="2147483740" r:id="rId24"/>
    <p:sldLayoutId id="2147483741" r:id="rId25"/>
    <p:sldLayoutId id="2147483742" r:id="rId26"/>
    <p:sldLayoutId id="2147483743" r:id="rId27"/>
  </p:sldLayoutIdLst>
  <p:txStyles>
    <p:titleStyle>
      <a:lvl1pPr algn="l" defTabSz="914141" rtl="0" eaLnBrk="1" latinLnBrk="0" hangingPunct="1">
        <a:lnSpc>
          <a:spcPct val="90000"/>
        </a:lnSpc>
        <a:spcBef>
          <a:spcPct val="0"/>
        </a:spcBef>
        <a:buNone/>
        <a:defRPr sz="4399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141" rtl="0" eaLnBrk="1" latinLnBrk="0" hangingPunct="1">
        <a:lnSpc>
          <a:spcPct val="110000"/>
        </a:lnSpc>
        <a:spcBef>
          <a:spcPts val="1000"/>
        </a:spcBef>
        <a:buSzPct val="80000"/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02777" indent="-228535" algn="l" defTabSz="914141" rtl="0" eaLnBrk="1" latinLnBrk="0" hangingPunct="1">
        <a:lnSpc>
          <a:spcPct val="110000"/>
        </a:lnSpc>
        <a:spcBef>
          <a:spcPts val="500"/>
        </a:spcBef>
        <a:buSzPct val="80000"/>
        <a:buFont typeface="Goudy Old Style" panose="02020502050305020303" pitchFamily="18" charset="0"/>
        <a:buChar char="–"/>
        <a:defRPr sz="1600" i="1" kern="1200">
          <a:solidFill>
            <a:schemeClr val="tx1"/>
          </a:solidFill>
          <a:latin typeface="+mn-lt"/>
          <a:ea typeface="+mn-ea"/>
          <a:cs typeface="+mn-cs"/>
        </a:defRPr>
      </a:lvl2pPr>
      <a:lvl3pPr marL="822726" indent="-228535" algn="l" defTabSz="914141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96970" indent="-228535" algn="l" defTabSz="914141" rtl="0" eaLnBrk="1" latinLnBrk="0" hangingPunct="1">
        <a:lnSpc>
          <a:spcPct val="110000"/>
        </a:lnSpc>
        <a:spcBef>
          <a:spcPts val="500"/>
        </a:spcBef>
        <a:buSzPct val="80000"/>
        <a:buFont typeface="Goudy Old Style" panose="02020502050305020303" pitchFamily="18" charset="0"/>
        <a:buChar char="–"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1371212" indent="-228535" algn="l" defTabSz="914141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887" indent="-228535" algn="l" defTabSz="91414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957" indent="-228535" algn="l" defTabSz="91414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028" indent="-228535" algn="l" defTabSz="91414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099" indent="-228535" algn="l" defTabSz="91414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4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71" algn="l" defTabSz="91414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41" algn="l" defTabSz="91414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12" algn="l" defTabSz="91414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81" algn="l" defTabSz="91414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353" algn="l" defTabSz="91414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422" algn="l" defTabSz="91414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493" algn="l" defTabSz="91414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564" algn="l" defTabSz="91414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28" userDrawn="1">
          <p15:clr>
            <a:srgbClr val="F26B43"/>
          </p15:clr>
        </p15:guide>
        <p15:guide id="2" pos="528" userDrawn="1">
          <p15:clr>
            <a:srgbClr val="F26B43"/>
          </p15:clr>
        </p15:guide>
        <p15:guide id="3" orient="horz" pos="3792" userDrawn="1">
          <p15:clr>
            <a:srgbClr val="F26B43"/>
          </p15:clr>
        </p15:guide>
        <p15:guide id="4" pos="715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EE2BE142-6219-4A32-A8D4-FAE1D2C0A131}"/>
              </a:ext>
            </a:extLst>
          </p:cNvPr>
          <p:cNvGrpSpPr/>
          <p:nvPr/>
        </p:nvGrpSpPr>
        <p:grpSpPr>
          <a:xfrm>
            <a:off x="0" y="-17801"/>
            <a:ext cx="12192000" cy="6858000"/>
            <a:chOff x="0" y="0"/>
            <a:chExt cx="12192000" cy="6858000"/>
          </a:xfrm>
        </p:grpSpPr>
        <p:sp>
          <p:nvSpPr>
            <p:cNvPr id="4" name="Shape 2"/>
            <p:cNvSpPr/>
            <p:nvPr/>
          </p:nvSpPr>
          <p:spPr>
            <a:xfrm>
              <a:off x="0" y="146304"/>
              <a:ext cx="3413760" cy="655929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Shape 7"/>
            <p:cNvSpPr/>
            <p:nvPr/>
          </p:nvSpPr>
          <p:spPr>
            <a:xfrm>
              <a:off x="370311" y="4526280"/>
              <a:ext cx="2663405" cy="48768"/>
            </a:xfrm>
            <a:prstGeom prst="rect">
              <a:avLst/>
            </a:prstGeom>
            <a:solidFill>
              <a:srgbClr val="C8960C"/>
            </a:solidFill>
            <a:ln w="12700">
              <a:solidFill>
                <a:srgbClr val="C8960C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51FD539-0B18-4B17-AC3E-6C2E56F41895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858000"/>
            </a:xfrm>
          </p:grpSpPr>
          <p:sp>
            <p:nvSpPr>
              <p:cNvPr id="5" name="Shape 0"/>
              <p:cNvSpPr/>
              <p:nvPr/>
            </p:nvSpPr>
            <p:spPr>
              <a:xfrm>
                <a:off x="0" y="0"/>
                <a:ext cx="12192000" cy="146304"/>
              </a:xfrm>
              <a:prstGeom prst="rect">
                <a:avLst/>
              </a:prstGeom>
              <a:solidFill>
                <a:srgbClr val="C8960C"/>
              </a:solidFill>
              <a:ln w="12700">
                <a:solidFill>
                  <a:srgbClr val="C8960C"/>
                </a:solidFill>
                <a:prstDash val="solid"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" name="Shape 1"/>
              <p:cNvSpPr/>
              <p:nvPr/>
            </p:nvSpPr>
            <p:spPr>
              <a:xfrm>
                <a:off x="0" y="6705600"/>
                <a:ext cx="12192000" cy="152400"/>
              </a:xfrm>
              <a:prstGeom prst="rect">
                <a:avLst/>
              </a:prstGeom>
              <a:solidFill>
                <a:srgbClr val="C8960C"/>
              </a:solidFill>
              <a:ln w="12700">
                <a:solidFill>
                  <a:srgbClr val="C8960C"/>
                </a:solidFill>
                <a:prstDash val="solid"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1" name="Shape 9"/>
              <p:cNvSpPr/>
              <p:nvPr/>
            </p:nvSpPr>
            <p:spPr>
              <a:xfrm>
                <a:off x="3315642" y="146304"/>
                <a:ext cx="8876358" cy="6559296"/>
              </a:xfrm>
              <a:prstGeom prst="rect">
                <a:avLst/>
              </a:prstGeom>
              <a:solidFill>
                <a:srgbClr val="003366"/>
              </a:solidFill>
              <a:ln w="12700">
                <a:solidFill>
                  <a:srgbClr val="003366"/>
                </a:solidFill>
                <a:prstDash val="solid"/>
              </a:ln>
            </p:spPr>
            <p:txBody>
              <a:bodyPr/>
              <a:lstStyle/>
              <a:p>
                <a:endParaRPr lang="en-IN" dirty="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7E8F91F1-D33C-48E9-9439-A6687AFA7DFD}"/>
                </a:ext>
              </a:extLst>
            </p:cNvPr>
            <p:cNvGrpSpPr/>
            <p:nvPr/>
          </p:nvGrpSpPr>
          <p:grpSpPr>
            <a:xfrm>
              <a:off x="3655695" y="426720"/>
              <a:ext cx="3048000" cy="463296"/>
              <a:chOff x="3655695" y="426720"/>
              <a:chExt cx="3048000" cy="463296"/>
            </a:xfrm>
          </p:grpSpPr>
          <p:sp>
            <p:nvSpPr>
              <p:cNvPr id="12" name="Shape 10"/>
              <p:cNvSpPr/>
              <p:nvPr/>
            </p:nvSpPr>
            <p:spPr>
              <a:xfrm>
                <a:off x="3655695" y="426720"/>
                <a:ext cx="3048000" cy="463296"/>
              </a:xfrm>
              <a:prstGeom prst="rect">
                <a:avLst/>
              </a:prstGeom>
              <a:solidFill>
                <a:srgbClr val="C8960C"/>
              </a:solidFill>
              <a:ln w="12700">
                <a:solidFill>
                  <a:srgbClr val="C8960C"/>
                </a:solidFill>
                <a:prstDash val="solid"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3" name="Text 11"/>
              <p:cNvSpPr/>
              <p:nvPr/>
            </p:nvSpPr>
            <p:spPr>
              <a:xfrm>
                <a:off x="3794241" y="426720"/>
                <a:ext cx="2770909" cy="4632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600" b="1" dirty="0">
                    <a:solidFill>
                      <a:srgbClr val="003366"/>
                    </a:solidFill>
                  </a:rPr>
                  <a:t>INTERNSHIP/TERM PROJECT</a:t>
                </a:r>
                <a:endParaRPr lang="en-US" sz="1600" dirty="0"/>
              </a:p>
            </p:txBody>
          </p:sp>
        </p:grpSp>
        <p:sp>
          <p:nvSpPr>
            <p:cNvPr id="15" name="Shape 13"/>
            <p:cNvSpPr/>
            <p:nvPr/>
          </p:nvSpPr>
          <p:spPr>
            <a:xfrm>
              <a:off x="3533775" y="2687513"/>
              <a:ext cx="8168640" cy="50268"/>
            </a:xfrm>
            <a:prstGeom prst="rect">
              <a:avLst/>
            </a:prstGeom>
            <a:solidFill>
              <a:srgbClr val="C8960C"/>
            </a:solidFill>
            <a:ln w="12700">
              <a:solidFill>
                <a:srgbClr val="C8960C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A394E0BD-D4FA-419D-AC66-F1E64F9FA301}"/>
                </a:ext>
              </a:extLst>
            </p:cNvPr>
            <p:cNvGrpSpPr/>
            <p:nvPr/>
          </p:nvGrpSpPr>
          <p:grpSpPr>
            <a:xfrm>
              <a:off x="44169" y="445008"/>
              <a:ext cx="3212862" cy="5547360"/>
              <a:chOff x="187044" y="292608"/>
              <a:chExt cx="3048000" cy="5376672"/>
            </a:xfrm>
          </p:grpSpPr>
          <p:sp>
            <p:nvSpPr>
              <p:cNvPr id="8" name="Text 6"/>
              <p:cNvSpPr/>
              <p:nvPr/>
            </p:nvSpPr>
            <p:spPr>
              <a:xfrm>
                <a:off x="187044" y="3413760"/>
                <a:ext cx="3048000" cy="9753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sz="1330" b="1" dirty="0">
                    <a:solidFill>
                      <a:srgbClr val="003366"/>
                    </a:solidFill>
                  </a:rPr>
                  <a:t>Indian Institute of Technology</a:t>
                </a:r>
                <a:r>
                  <a:rPr lang="en-US" sz="1330" dirty="0"/>
                  <a:t> </a:t>
                </a:r>
                <a:r>
                  <a:rPr lang="en-US" sz="1330" b="1" dirty="0">
                    <a:solidFill>
                      <a:srgbClr val="003366"/>
                    </a:solidFill>
                  </a:rPr>
                  <a:t>Guwahati</a:t>
                </a:r>
                <a:endParaRPr lang="en-US" sz="1330" dirty="0"/>
              </a:p>
            </p:txBody>
          </p:sp>
          <p:sp>
            <p:nvSpPr>
              <p:cNvPr id="10" name="Text 8"/>
              <p:cNvSpPr/>
              <p:nvPr/>
            </p:nvSpPr>
            <p:spPr>
              <a:xfrm>
                <a:off x="187044" y="4572000"/>
                <a:ext cx="3048000" cy="10972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sz="1200" dirty="0">
                    <a:solidFill>
                      <a:srgbClr val="003366"/>
                    </a:solidFill>
                  </a:rPr>
                  <a:t>BSc. (Hons.) Data Science &amp; Artificial Intelligence</a:t>
                </a:r>
              </a:p>
              <a:p>
                <a:pPr algn="ctr"/>
                <a:r>
                  <a:rPr lang="en-US" sz="1200" dirty="0">
                    <a:solidFill>
                      <a:srgbClr val="003366"/>
                    </a:solidFill>
                  </a:rPr>
                  <a:t>Online Degree Programme</a:t>
                </a:r>
              </a:p>
            </p:txBody>
          </p:sp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64F0957D-3F23-4706-88FD-94B6648BF3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1098" y="292608"/>
                <a:ext cx="2879893" cy="2889504"/>
              </a:xfrm>
              <a:prstGeom prst="rect">
                <a:avLst/>
              </a:prstGeom>
            </p:spPr>
          </p:pic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BA530B8-A3A2-4978-A35E-7D117B7D701A}"/>
              </a:ext>
            </a:extLst>
          </p:cNvPr>
          <p:cNvGrpSpPr/>
          <p:nvPr/>
        </p:nvGrpSpPr>
        <p:grpSpPr>
          <a:xfrm>
            <a:off x="3794241" y="2996670"/>
            <a:ext cx="8107680" cy="2760457"/>
            <a:chOff x="3637171" y="2996670"/>
            <a:chExt cx="8107680" cy="276045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7838290-E246-4CFE-9595-3A86F1A7A8C3}"/>
                </a:ext>
              </a:extLst>
            </p:cNvPr>
            <p:cNvGrpSpPr/>
            <p:nvPr/>
          </p:nvGrpSpPr>
          <p:grpSpPr>
            <a:xfrm>
              <a:off x="3637171" y="2996670"/>
              <a:ext cx="2316480" cy="2760456"/>
              <a:chOff x="3560971" y="2931943"/>
              <a:chExt cx="2316480" cy="2760456"/>
            </a:xfrm>
          </p:grpSpPr>
          <p:sp>
            <p:nvSpPr>
              <p:cNvPr id="18" name="Text 14"/>
              <p:cNvSpPr/>
              <p:nvPr/>
            </p:nvSpPr>
            <p:spPr>
              <a:xfrm>
                <a:off x="3560971" y="2931943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Student Name :</a:t>
                </a:r>
                <a:endParaRPr lang="en-US" dirty="0"/>
              </a:p>
            </p:txBody>
          </p:sp>
          <p:sp>
            <p:nvSpPr>
              <p:cNvPr id="20" name="Text 16"/>
              <p:cNvSpPr/>
              <p:nvPr/>
            </p:nvSpPr>
            <p:spPr>
              <a:xfrm>
                <a:off x="3560971" y="3322931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Student ID :</a:t>
                </a:r>
                <a:endParaRPr lang="en-US" dirty="0"/>
              </a:p>
            </p:txBody>
          </p:sp>
          <p:sp>
            <p:nvSpPr>
              <p:cNvPr id="22" name="Text 18"/>
              <p:cNvSpPr/>
              <p:nvPr/>
            </p:nvSpPr>
            <p:spPr>
              <a:xfrm>
                <a:off x="3560971" y="4104907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Programme :</a:t>
                </a:r>
                <a:endParaRPr lang="en-US" dirty="0"/>
              </a:p>
            </p:txBody>
          </p:sp>
          <p:sp>
            <p:nvSpPr>
              <p:cNvPr id="24" name="Text 20"/>
              <p:cNvSpPr/>
              <p:nvPr/>
            </p:nvSpPr>
            <p:spPr>
              <a:xfrm>
                <a:off x="3560971" y="4495895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Course Code :</a:t>
                </a:r>
                <a:endParaRPr lang="en-US" dirty="0"/>
              </a:p>
            </p:txBody>
          </p:sp>
          <p:sp>
            <p:nvSpPr>
              <p:cNvPr id="26" name="Text 22"/>
              <p:cNvSpPr/>
              <p:nvPr/>
            </p:nvSpPr>
            <p:spPr>
              <a:xfrm>
                <a:off x="3560971" y="4886883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Course Name :</a:t>
                </a:r>
                <a:endParaRPr lang="en-US" dirty="0"/>
              </a:p>
            </p:txBody>
          </p:sp>
          <p:sp>
            <p:nvSpPr>
              <p:cNvPr id="28" name="Text 24"/>
              <p:cNvSpPr/>
              <p:nvPr/>
            </p:nvSpPr>
            <p:spPr>
              <a:xfrm>
                <a:off x="3560971" y="5277871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Trimester :</a:t>
                </a:r>
                <a:endParaRPr lang="en-US" dirty="0"/>
              </a:p>
            </p:txBody>
          </p:sp>
          <p:sp>
            <p:nvSpPr>
              <p:cNvPr id="30" name="Text 16">
                <a:extLst>
                  <a:ext uri="{FF2B5EF4-FFF2-40B4-BE49-F238E27FC236}">
                    <a16:creationId xmlns:a16="http://schemas.microsoft.com/office/drawing/2014/main" id="{3144A76E-D519-41CC-9D78-E279B752AECC}"/>
                  </a:ext>
                </a:extLst>
              </p:cNvPr>
              <p:cNvSpPr/>
              <p:nvPr/>
            </p:nvSpPr>
            <p:spPr>
              <a:xfrm>
                <a:off x="3560971" y="3713919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Email ID :</a:t>
                </a:r>
                <a:endParaRPr lang="en-US" dirty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3734901-5BF2-49C3-910A-97290AE0D4FF}"/>
                </a:ext>
              </a:extLst>
            </p:cNvPr>
            <p:cNvGrpSpPr/>
            <p:nvPr/>
          </p:nvGrpSpPr>
          <p:grpSpPr>
            <a:xfrm>
              <a:off x="6014611" y="2996671"/>
              <a:ext cx="5730240" cy="2760456"/>
              <a:chOff x="5938411" y="2924237"/>
              <a:chExt cx="5730240" cy="2760456"/>
            </a:xfrm>
          </p:grpSpPr>
          <p:sp>
            <p:nvSpPr>
              <p:cNvPr id="17" name="Text 15"/>
              <p:cNvSpPr/>
              <p:nvPr/>
            </p:nvSpPr>
            <p:spPr>
              <a:xfrm>
                <a:off x="5938411" y="2924237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Ashutosh Yadav </a:t>
                </a:r>
                <a:endParaRPr lang="en-US" dirty="0"/>
              </a:p>
            </p:txBody>
          </p:sp>
          <p:sp>
            <p:nvSpPr>
              <p:cNvPr id="19" name="Text 17"/>
              <p:cNvSpPr/>
              <p:nvPr/>
            </p:nvSpPr>
            <p:spPr>
              <a:xfrm>
                <a:off x="5938411" y="3315225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IN" b="1" dirty="0">
                    <a:solidFill>
                      <a:srgbClr val="FFFFFF"/>
                    </a:solidFill>
                  </a:rPr>
                  <a:t>23035010693</a:t>
                </a:r>
                <a:endParaRPr lang="en-US" dirty="0"/>
              </a:p>
            </p:txBody>
          </p:sp>
          <p:sp>
            <p:nvSpPr>
              <p:cNvPr id="21" name="Text 19"/>
              <p:cNvSpPr/>
              <p:nvPr/>
            </p:nvSpPr>
            <p:spPr>
              <a:xfrm>
                <a:off x="5938411" y="4097201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BSc. (Hons.) Data Science &amp; AI</a:t>
                </a:r>
                <a:endParaRPr lang="en-US" dirty="0"/>
              </a:p>
            </p:txBody>
          </p:sp>
          <p:sp>
            <p:nvSpPr>
              <p:cNvPr id="23" name="Text 21"/>
              <p:cNvSpPr/>
              <p:nvPr/>
            </p:nvSpPr>
            <p:spPr>
              <a:xfrm>
                <a:off x="5938411" y="4488189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DA279</a:t>
                </a:r>
                <a:endParaRPr lang="en-US" dirty="0"/>
              </a:p>
            </p:txBody>
          </p:sp>
          <p:sp>
            <p:nvSpPr>
              <p:cNvPr id="25" name="Text 23"/>
              <p:cNvSpPr/>
              <p:nvPr/>
            </p:nvSpPr>
            <p:spPr>
              <a:xfrm>
                <a:off x="5938411" y="4879177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DA 379 (Internship/Term Project-III</a:t>
                </a:r>
                <a:endParaRPr lang="en-US" dirty="0"/>
              </a:p>
            </p:txBody>
          </p:sp>
          <p:sp>
            <p:nvSpPr>
              <p:cNvPr id="27" name="Text 25"/>
              <p:cNvSpPr/>
              <p:nvPr/>
            </p:nvSpPr>
            <p:spPr>
              <a:xfrm>
                <a:off x="5938411" y="5270165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IX </a:t>
                </a:r>
                <a:endParaRPr lang="en-US" dirty="0"/>
              </a:p>
            </p:txBody>
          </p:sp>
          <p:sp>
            <p:nvSpPr>
              <p:cNvPr id="33" name="Text 17">
                <a:extLst>
                  <a:ext uri="{FF2B5EF4-FFF2-40B4-BE49-F238E27FC236}">
                    <a16:creationId xmlns:a16="http://schemas.microsoft.com/office/drawing/2014/main" id="{D9C22DD5-566E-4E5C-B5B7-EF56DE8DF892}"/>
                  </a:ext>
                </a:extLst>
              </p:cNvPr>
              <p:cNvSpPr/>
              <p:nvPr/>
            </p:nvSpPr>
            <p:spPr>
              <a:xfrm>
                <a:off x="5938411" y="3706213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Ashutosh.Yadav@op.iitg.ac.in</a:t>
                </a:r>
                <a:endParaRPr lang="en-US" dirty="0"/>
              </a:p>
            </p:txBody>
          </p:sp>
        </p:grpSp>
      </p:grpSp>
      <p:sp>
        <p:nvSpPr>
          <p:cNvPr id="29" name="Text 12"/>
          <p:cNvSpPr/>
          <p:nvPr/>
        </p:nvSpPr>
        <p:spPr>
          <a:xfrm>
            <a:off x="3560971" y="711756"/>
            <a:ext cx="81686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4000" b="1" dirty="0" err="1">
                <a:solidFill>
                  <a:srgbClr val="FFFFFF"/>
                </a:solidFill>
              </a:rPr>
              <a:t>PneumoFusionNet</a:t>
            </a:r>
            <a:br>
              <a:rPr lang="en-IN" sz="4000" b="1" dirty="0">
                <a:solidFill>
                  <a:srgbClr val="FFFFFF"/>
                </a:solidFill>
              </a:rPr>
            </a:br>
            <a:endParaRPr lang="en-US" sz="2000" dirty="0">
              <a:solidFill>
                <a:srgbClr val="0077B6"/>
              </a:solidFill>
            </a:endParaRPr>
          </a:p>
          <a:p>
            <a:endParaRPr lang="en-US" sz="3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71D06F-D8DD-8574-3AB8-006C90471505}"/>
              </a:ext>
            </a:extLst>
          </p:cNvPr>
          <p:cNvSpPr txBox="1"/>
          <p:nvPr/>
        </p:nvSpPr>
        <p:spPr>
          <a:xfrm>
            <a:off x="2286001" y="1668781"/>
            <a:ext cx="8686800" cy="492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601" dirty="0">
                <a:solidFill>
                  <a:srgbClr val="FFFFFF"/>
                </a:solidFill>
              </a:rPr>
              <a:t>                                </a:t>
            </a:r>
            <a:r>
              <a:rPr sz="2601" dirty="0">
                <a:solidFill>
                  <a:srgbClr val="FFFFFF"/>
                </a:solidFill>
              </a:rPr>
              <a:t>Part 2: Image + Report Text + WBC Fusion</a:t>
            </a:r>
          </a:p>
        </p:txBody>
      </p:sp>
    </p:spTree>
    <p:extLst>
      <p:ext uri="{BB962C8B-B14F-4D97-AF65-F5344CB8AC3E}">
        <p14:creationId xmlns:p14="http://schemas.microsoft.com/office/powerpoint/2010/main" val="29237089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3407"/>
    </mc:Choice>
    <mc:Fallback xmlns="">
      <p:transition spd="slow" advTm="6340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14400" y="0"/>
            <a:ext cx="9144" cy="6858000"/>
          </a:xfrm>
          <a:prstGeom prst="rect">
            <a:avLst/>
          </a:prstGeom>
          <a:solidFill>
            <a:srgbClr val="15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1" y="0"/>
            <a:ext cx="9144" cy="6858000"/>
          </a:xfrm>
          <a:prstGeom prst="rect">
            <a:avLst/>
          </a:prstGeom>
          <a:solidFill>
            <a:srgbClr val="15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9144" cy="6858000"/>
          </a:xfrm>
          <a:prstGeom prst="rect">
            <a:avLst/>
          </a:prstGeom>
          <a:solidFill>
            <a:srgbClr val="15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9144" cy="6858000"/>
          </a:xfrm>
          <a:prstGeom prst="rect">
            <a:avLst/>
          </a:prstGeom>
          <a:solidFill>
            <a:srgbClr val="15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1999" y="0"/>
            <a:ext cx="9144" cy="6858000"/>
          </a:xfrm>
          <a:prstGeom prst="rect">
            <a:avLst/>
          </a:prstGeom>
          <a:solidFill>
            <a:srgbClr val="15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" cy="6858000"/>
          </a:xfrm>
          <a:prstGeom prst="rect">
            <a:avLst/>
          </a:prstGeom>
          <a:solidFill>
            <a:srgbClr val="15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9144" cy="6858000"/>
          </a:xfrm>
          <a:prstGeom prst="rect">
            <a:avLst/>
          </a:prstGeom>
          <a:solidFill>
            <a:srgbClr val="15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199" y="0"/>
            <a:ext cx="9144" cy="6858000"/>
          </a:xfrm>
          <a:prstGeom prst="rect">
            <a:avLst/>
          </a:prstGeom>
          <a:solidFill>
            <a:srgbClr val="15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9144" cy="6858000"/>
          </a:xfrm>
          <a:prstGeom prst="rect">
            <a:avLst/>
          </a:prstGeom>
          <a:solidFill>
            <a:srgbClr val="15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9144" cy="6858000"/>
          </a:xfrm>
          <a:prstGeom prst="rect">
            <a:avLst/>
          </a:prstGeom>
          <a:solidFill>
            <a:srgbClr val="15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9144" cy="6858000"/>
          </a:xfrm>
          <a:prstGeom prst="rect">
            <a:avLst/>
          </a:prstGeom>
          <a:solidFill>
            <a:srgbClr val="15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9144" cy="6858000"/>
          </a:xfrm>
          <a:prstGeom prst="rect">
            <a:avLst/>
          </a:prstGeom>
          <a:solidFill>
            <a:srgbClr val="15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1887201" y="0"/>
            <a:ext cx="9144" cy="6858000"/>
          </a:xfrm>
          <a:prstGeom prst="rect">
            <a:avLst/>
          </a:prstGeom>
          <a:solidFill>
            <a:srgbClr val="15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00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71600" y="731520"/>
            <a:ext cx="1371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>
                <a:solidFill>
                  <a:srgbClr val="FFFFFF"/>
                </a:solidFill>
              </a:rPr>
              <a:t>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822961"/>
            <a:ext cx="8686800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00E5FF"/>
                </a:solidFill>
              </a:rPr>
              <a:t>PneumoFusionNet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148840"/>
            <a:ext cx="868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i="1">
                <a:solidFill>
                  <a:srgbClr val="CBD5E0"/>
                </a:solidFill>
              </a:rPr>
              <a:t>From Cross-Attention to a One-Blood-Test Pneumonia Model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2697480"/>
            <a:ext cx="8686800" cy="27432"/>
          </a:xfrm>
          <a:prstGeom prst="rect">
            <a:avLst/>
          </a:prstGeom>
          <a:solidFill>
            <a:srgbClr val="00E5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43200" y="2834640"/>
            <a:ext cx="8686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Ashutosh Yadav   |   Roll: 23035010693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182112"/>
            <a:ext cx="8686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CBD5E0"/>
                </a:solidFill>
              </a:rPr>
              <a:t>B.Sc. (Hons.) Data Science &amp; Artificial Intelligence — IIT Guwahati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493009"/>
            <a:ext cx="8686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CBD5E0"/>
                </a:solidFill>
              </a:rPr>
              <a:t>Trimester 8 Term Project   |   September 2026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" y="6309361"/>
            <a:ext cx="12188952" cy="548640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74321" y="6355081"/>
            <a:ext cx="116128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CBD5E0"/>
                </a:solidFill>
              </a:rPr>
              <a:t>MIMIC-CXR (PhysioNet DUA + CITI required)   |   github.com/Ashutosh-yadav0001/PneumoFusionNet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1" y="164592"/>
            <a:ext cx="1143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0E5FF"/>
                </a:solidFill>
              </a:rPr>
              <a:t>Where Part 1 Left Off — and the Part 2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1" y="1142999"/>
            <a:ext cx="11430000" cy="18289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5303520" cy="2286001"/>
          </a:xfrm>
          <a:prstGeom prst="rect">
            <a:avLst/>
          </a:prstGeom>
          <a:solidFill>
            <a:srgbClr val="12263A"/>
          </a:solidFill>
          <a:ln w="95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1371601"/>
            <a:ext cx="50840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E5FF"/>
                </a:solidFill>
              </a:rPr>
              <a:t>✅  What Part 1 Achieved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664208"/>
            <a:ext cx="508406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dirty="0">
                <a:solidFill>
                  <a:srgbClr val="CBD5E0"/>
                </a:solidFill>
              </a:rPr>
              <a:t>• Architecture: DenseNet-121 + CBAM
• Data: MIMIC-CXR PA-view, 1,989 images
• Best AUC: 0.826   |   Sensitivity: 71.0%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657600"/>
            <a:ext cx="5303520" cy="2286001"/>
          </a:xfrm>
          <a:prstGeom prst="rect">
            <a:avLst/>
          </a:prstGeom>
          <a:solidFill>
            <a:srgbClr val="12263A"/>
          </a:solidFill>
          <a:ln w="95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3749039"/>
            <a:ext cx="50840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E5FF"/>
                </a:solidFill>
              </a:rPr>
              <a:t>❌  Why It Hit a Ceiling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4041648"/>
            <a:ext cx="508406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dirty="0">
                <a:solidFill>
                  <a:srgbClr val="CBD5E0"/>
                </a:solidFill>
              </a:rPr>
              <a:t>• X-ray shows lung appearance only
• Cannot see fever, WBC, patient history
• Every doctor uses these — our model didn't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2" y="1280160"/>
            <a:ext cx="5760719" cy="4663440"/>
          </a:xfrm>
          <a:prstGeom prst="rect">
            <a:avLst/>
          </a:prstGeom>
          <a:solidFill>
            <a:srgbClr val="12263A"/>
          </a:solidFill>
          <a:ln w="95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1371601"/>
            <a:ext cx="53035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E5FF"/>
                </a:solidFill>
              </a:rPr>
              <a:t>Part 2 Journey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868680" cy="685800"/>
          </a:xfrm>
          <a:prstGeom prst="rect">
            <a:avLst/>
          </a:prstGeom>
          <a:solidFill>
            <a:srgbClr val="E74C3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36208" y="1984249"/>
            <a:ext cx="8321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D1B2A"/>
                </a:solidFill>
              </a:rPr>
              <a:t>Phase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1" y="1947672"/>
            <a:ext cx="2926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FFFFFF"/>
                </a:solidFill>
              </a:rPr>
              <a:t>X-ray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1" y="2258568"/>
            <a:ext cx="2926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74C3C"/>
                </a:solidFill>
              </a:rPr>
              <a:t>AUC 0.826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834639"/>
            <a:ext cx="868680" cy="685800"/>
          </a:xfrm>
          <a:prstGeom prst="rect">
            <a:avLst/>
          </a:prstGeom>
          <a:solidFill>
            <a:srgbClr val="E67E22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36208" y="2944369"/>
            <a:ext cx="8321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D1B2A"/>
                </a:solidFill>
              </a:rPr>
              <a:t>Phase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1" y="2907791"/>
            <a:ext cx="2926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FFFFFF"/>
                </a:solidFill>
              </a:rPr>
              <a:t>X-ray + Report 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1" y="3218687"/>
            <a:ext cx="2926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7E22"/>
                </a:solidFill>
              </a:rPr>
              <a:t>AUC 0.949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794759"/>
            <a:ext cx="868680" cy="685800"/>
          </a:xfrm>
          <a:prstGeom prst="rect">
            <a:avLst/>
          </a:prstGeom>
          <a:solidFill>
            <a:srgbClr val="2ECC7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36208" y="3904489"/>
            <a:ext cx="83210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D1B2A"/>
                </a:solidFill>
              </a:rPr>
              <a:t>Phase 3c 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1" y="3867913"/>
            <a:ext cx="2926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FFFFFF"/>
                </a:solidFill>
              </a:rPr>
              <a:t>X-ray + Text + WBC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1" y="4178807"/>
            <a:ext cx="2926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CC71"/>
                </a:solidFill>
              </a:rPr>
              <a:t>AUC 0.971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4754880"/>
            <a:ext cx="868680" cy="685800"/>
          </a:xfrm>
          <a:prstGeom prst="rect">
            <a:avLst/>
          </a:prstGeom>
          <a:solidFill>
            <a:srgbClr val="00E5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36208" y="4864610"/>
            <a:ext cx="8321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D1B2A"/>
                </a:solidFill>
              </a:rPr>
              <a:t>Next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1" y="4828032"/>
            <a:ext cx="2926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FFFFFF"/>
                </a:solidFill>
              </a:rPr>
              <a:t>Indian hospital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1" y="5138928"/>
            <a:ext cx="2926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E5FF"/>
                </a:solidFill>
              </a:rPr>
              <a:t>Planned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1" y="164592"/>
            <a:ext cx="1143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0E5FF"/>
                </a:solidFill>
              </a:rPr>
              <a:t>The Rule We Never Break — No IMPRESSION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1" y="1142999"/>
            <a:ext cx="11430000" cy="18289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1" y="1234440"/>
            <a:ext cx="11247120" cy="3474720"/>
          </a:xfrm>
          <a:prstGeom prst="rect">
            <a:avLst/>
          </a:prstGeom>
          <a:solidFill>
            <a:srgbClr val="12263A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25881"/>
            <a:ext cx="10881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E5FF"/>
                </a:solidFill>
              </a:rPr>
              <a:t>A Real Radiology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79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E5FF"/>
                </a:solidFill>
              </a:rPr>
              <a:t>FINDINGS: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1783080"/>
            <a:ext cx="9326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CBD5E0"/>
                </a:solidFill>
              </a:rPr>
              <a:t>Increased opacity in the right lower lobe. Mild blunting of the costophrenic angle.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41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E5FF"/>
                </a:solidFill>
              </a:rPr>
              <a:t>HISTORY: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2606041"/>
            <a:ext cx="9326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CBD5E0"/>
                </a:solidFill>
              </a:rPr>
              <a:t>65-year-old male, fever for 3 days, cough, shortness of breath.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E5FF"/>
                </a:solidFill>
              </a:rPr>
              <a:t>IMPRESSION: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3429001"/>
            <a:ext cx="9326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E74C3C"/>
                </a:solidFill>
              </a:rPr>
              <a:t>PNEUMONIA — right lower lobe consolidation.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92040"/>
            <a:ext cx="5394960" cy="594360"/>
          </a:xfrm>
          <a:prstGeom prst="rect">
            <a:avLst/>
          </a:prstGeom>
          <a:solidFill>
            <a:srgbClr val="0A3D1A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1" y="4956050"/>
            <a:ext cx="512063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C71"/>
                </a:solidFill>
              </a:rPr>
              <a:t>✅  We use:   FINDINGS  +  HISTORY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39" y="4892040"/>
            <a:ext cx="5669281" cy="594360"/>
          </a:xfrm>
          <a:prstGeom prst="rect">
            <a:avLst/>
          </a:prstGeom>
          <a:solidFill>
            <a:srgbClr val="3D0A0A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72200" y="4956049"/>
            <a:ext cx="53949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74C3C"/>
                </a:solidFill>
              </a:rPr>
              <a:t>❌  We strip:  IMPRESSION  ← This IS the diagnosis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1" y="5623560"/>
            <a:ext cx="112471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i="1">
                <a:solidFill>
                  <a:srgbClr val="E67E22"/>
                </a:solidFill>
              </a:rPr>
              <a:t>90%+ of multimodal papers accidentally let the model read IMPRESSION — it memorises the label, not the diagnosis.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1" y="164592"/>
            <a:ext cx="1143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0E5FF"/>
                </a:solidFill>
              </a:rPr>
              <a:t>Phase 2 — Image + Leakage-Free Radiology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1" y="1142999"/>
            <a:ext cx="11430000" cy="18289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5120639" cy="2011680"/>
          </a:xfrm>
          <a:prstGeom prst="rect">
            <a:avLst/>
          </a:prstGeom>
          <a:solidFill>
            <a:srgbClr val="12263A"/>
          </a:solidFill>
          <a:ln w="9525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1" y="1353314"/>
            <a:ext cx="4846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74C3C"/>
                </a:solidFill>
              </a:rPr>
              <a:t>Phase 2v1  —  Concat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1" y="1719073"/>
            <a:ext cx="4846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CBD5E0"/>
                </a:solidFill>
              </a:rPr>
              <a:t>Image 1024-d  +  BERT [CLS] token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1" y="2039112"/>
            <a:ext cx="4846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CBD5E0"/>
                </a:solidFill>
              </a:rPr>
              <a:t>CONCAT  →  MLP  → 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1" y="2359153"/>
            <a:ext cx="4846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CBD5E0"/>
                </a:solidFill>
              </a:rPr>
              <a:t>AUC: 0.911     Sensitivity: 80.6%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i="1">
                <a:solidFill>
                  <a:srgbClr val="E67E22"/>
                </a:solidFill>
              </a:rPr>
              <a:t>▼  Sensitivity too low — mostly helps Normal cases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749040"/>
            <a:ext cx="5120639" cy="2011680"/>
          </a:xfrm>
          <a:prstGeom prst="rect">
            <a:avLst/>
          </a:prstGeom>
          <a:solidFill>
            <a:srgbClr val="12263A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1" y="3822192"/>
            <a:ext cx="4846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C71"/>
                </a:solidFill>
              </a:rPr>
              <a:t>Phase 2v2  —  7 Improvements  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1" y="4187953"/>
            <a:ext cx="4846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CBD5E0"/>
                </a:solidFill>
              </a:rPr>
              <a:t>Image queries BERT token sequence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1" y="4507993"/>
            <a:ext cx="4846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CBD5E0"/>
                </a:solidFill>
              </a:rPr>
              <a:t>8-head Cross-Attention  →  512-d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1" y="4828032"/>
            <a:ext cx="4846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CBD5E0"/>
                </a:solidFill>
              </a:rPr>
              <a:t>AUC: 0.949     Sensitivity: 91.4%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1" y="1280160"/>
            <a:ext cx="6035040" cy="4572000"/>
          </a:xfrm>
          <a:prstGeom prst="rect">
            <a:avLst/>
          </a:prstGeom>
          <a:solidFill>
            <a:srgbClr val="12263A"/>
          </a:solidFill>
          <a:ln w="95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599" y="1353314"/>
            <a:ext cx="566928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E5FF"/>
                </a:solidFill>
              </a:rPr>
              <a:t>7 Changes:  v1 → 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599" y="1783080"/>
            <a:ext cx="56692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CBD5E0"/>
                </a:solidFill>
              </a:rPr>
              <a:t>① Text: FINDINGS only → FINDINGS + HISTORY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599" y="2304289"/>
            <a:ext cx="56692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CBD5E0"/>
                </a:solidFill>
              </a:rPr>
              <a:t>② BERT: frozen → last 2 layers fine-tuned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599" y="2825497"/>
            <a:ext cx="56692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CBD5E0"/>
                </a:solidFill>
              </a:rPr>
              <a:t>③ Fusion: Concat → 8-head Cross-Attention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599" y="3346705"/>
            <a:ext cx="56692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CBD5E0"/>
                </a:solidFill>
              </a:rPr>
              <a:t>④ Loss: CrossEntropy → Focal Loss (γ=2)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599" y="3867912"/>
            <a:ext cx="56692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CBD5E0"/>
                </a:solidFill>
              </a:rPr>
              <a:t>⑤ Augment: standard → Mixup on embeddings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599" y="4389120"/>
            <a:ext cx="56692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CBD5E0"/>
                </a:solidFill>
              </a:rPr>
              <a:t>⑥ LR: single → separate (BERT=1e-5, head=2e-4)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599" y="4910328"/>
            <a:ext cx="56692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CBD5E0"/>
                </a:solidFill>
              </a:rPr>
              <a:t>⑦ Explain: Grad-CAM visualisations added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1" y="164592"/>
            <a:ext cx="1143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0E5FF"/>
                </a:solidFill>
              </a:rPr>
              <a:t>Cross-Attention — Image Queries the Report Word by Word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1" y="1142999"/>
            <a:ext cx="11430000" cy="18289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1" y="1280161"/>
            <a:ext cx="3657601" cy="914400"/>
          </a:xfrm>
          <a:prstGeom prst="rect">
            <a:avLst/>
          </a:prstGeom>
          <a:solidFill>
            <a:srgbClr val="1A5276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1" y="1417320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Image features (1024-d)  →  Q (Query)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0" y="1280161"/>
            <a:ext cx="3657601" cy="914400"/>
          </a:xfrm>
          <a:prstGeom prst="rect">
            <a:avLst/>
          </a:prstGeom>
          <a:solidFill>
            <a:srgbClr val="12383A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75321" y="1417320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Report tokens (768-d × N words)  →  K, V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1" y="2423162"/>
            <a:ext cx="8869680" cy="1737359"/>
          </a:xfrm>
          <a:prstGeom prst="rect">
            <a:avLst/>
          </a:prstGeom>
          <a:solidFill>
            <a:srgbClr val="12263A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28801" y="2514602"/>
            <a:ext cx="85039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E5FF"/>
                </a:solidFill>
              </a:rPr>
              <a:t>Attention Score  =  Q · Kᵀ / √64   →   softmax weights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1" y="2944368"/>
            <a:ext cx="8503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CBD5E0"/>
                </a:solidFill>
              </a:rPr>
              <a:t>Output  =  weighted sum of Value vectors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1" y="3291841"/>
            <a:ext cx="8503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>
                <a:solidFill>
                  <a:srgbClr val="FFFFFF"/>
                </a:solidFill>
              </a:rPr>
              <a:t>"Which words in the report match what the image is showing?"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4315968"/>
            <a:ext cx="3931920" cy="594360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51960" y="4389120"/>
            <a:ext cx="3657601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512-d context vector  (image-anchored text summary)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74921"/>
            <a:ext cx="3657601" cy="1371600"/>
          </a:xfrm>
          <a:prstGeom prst="rect">
            <a:avLst/>
          </a:prstGeom>
          <a:solidFill>
            <a:srgbClr val="173047"/>
          </a:solidFill>
          <a:ln w="63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5166361"/>
            <a:ext cx="34747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E5FF"/>
                </a:solidFill>
              </a:rPr>
              <a:t>8 heads in
parallel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687570"/>
            <a:ext cx="34747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CBD5E0"/>
                </a:solidFill>
              </a:rPr>
              <a:t>Multiple views
of the report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1" y="5074921"/>
            <a:ext cx="3657601" cy="1371600"/>
          </a:xfrm>
          <a:prstGeom prst="rect">
            <a:avLst/>
          </a:prstGeom>
          <a:solidFill>
            <a:srgbClr val="173047"/>
          </a:solidFill>
          <a:ln w="63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80560" y="5166361"/>
            <a:ext cx="34747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E5FF"/>
                </a:solidFill>
              </a:rPr>
              <a:t>Image IS
the Query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5687570"/>
            <a:ext cx="34747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CBD5E0"/>
                </a:solidFill>
              </a:rPr>
              <a:t>It searches
the report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21040" y="5074921"/>
            <a:ext cx="3657601" cy="1371600"/>
          </a:xfrm>
          <a:prstGeom prst="rect">
            <a:avLst/>
          </a:prstGeom>
          <a:solidFill>
            <a:srgbClr val="173047"/>
          </a:solidFill>
          <a:ln w="63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81" y="5166361"/>
            <a:ext cx="34747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E5FF"/>
                </a:solidFill>
              </a:rPr>
              <a:t>All 512 tokens
used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1" y="5687570"/>
            <a:ext cx="34747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CBD5E0"/>
                </a:solidFill>
              </a:rPr>
              <a:t>Not just the
[CLS] summary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1" y="164592"/>
            <a:ext cx="1143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0E5FF"/>
                </a:solidFill>
              </a:rPr>
              <a:t>Phase 2 Results — Radiology Text Adds +12% AUC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1" y="1142999"/>
            <a:ext cx="11430000" cy="18289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2212848" cy="347472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1" y="1325880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2706624" y="1280160"/>
            <a:ext cx="2212848" cy="347472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52344" y="1325880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AUC</a:t>
            </a:r>
          </a:p>
        </p:txBody>
      </p:sp>
      <p:sp>
        <p:nvSpPr>
          <p:cNvPr id="8" name="Rectangle 7"/>
          <p:cNvSpPr/>
          <p:nvPr/>
        </p:nvSpPr>
        <p:spPr>
          <a:xfrm>
            <a:off x="4956048" y="1280160"/>
            <a:ext cx="2212848" cy="347472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01769" y="1325880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Sensitivity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05472" y="1280160"/>
            <a:ext cx="2212848" cy="347472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251192" y="1325880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Specificity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54896" y="1280160"/>
            <a:ext cx="2212848" cy="347472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500617" y="1325880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627631"/>
            <a:ext cx="2212848" cy="347472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1" y="1682495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Phase 1 (image only)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06624" y="1627631"/>
            <a:ext cx="2212848" cy="347472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52344" y="1682495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0.826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56048" y="1627631"/>
            <a:ext cx="2212848" cy="347472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01769" y="1682495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71.0%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05472" y="1627631"/>
            <a:ext cx="2212848" cy="347472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51192" y="1682495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54896" y="1627631"/>
            <a:ext cx="2212848" cy="347472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00617" y="1682495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76.3%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1975104"/>
            <a:ext cx="2212848" cy="347472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2921" y="2029968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Phase 2v1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06624" y="1975104"/>
            <a:ext cx="2212848" cy="347472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752344" y="2029968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0.911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1975104"/>
            <a:ext cx="2212848" cy="347472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01769" y="2029968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80.6%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05472" y="1975104"/>
            <a:ext cx="2212848" cy="347472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251192" y="2029968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89.4%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54896" y="1975104"/>
            <a:ext cx="2212848" cy="347472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500617" y="2029968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85.3%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2322576"/>
            <a:ext cx="2212848" cy="347472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2921" y="2377439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Phase 2v2  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06624" y="2322576"/>
            <a:ext cx="2212848" cy="347472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752344" y="2377439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0.949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56048" y="2322576"/>
            <a:ext cx="2212848" cy="347472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01769" y="2377439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91.4%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05472" y="2322576"/>
            <a:ext cx="2212848" cy="347472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51192" y="2377439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86.3%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454896" y="2322576"/>
            <a:ext cx="2212848" cy="347472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500617" y="2377439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88.6%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2670048"/>
            <a:ext cx="2212848" cy="347472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2921" y="2724911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Scale-up (3,763 imgs)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06624" y="2670048"/>
            <a:ext cx="2212848" cy="347472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752344" y="2724911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0.946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56048" y="2670048"/>
            <a:ext cx="2212848" cy="347472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001769" y="2724911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90.3%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205472" y="2670048"/>
            <a:ext cx="2212848" cy="347472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251192" y="2724911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89.1%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454896" y="2670048"/>
            <a:ext cx="2212848" cy="347472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500617" y="2724911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87.8%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1" y="4709161"/>
            <a:ext cx="3474720" cy="1508760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30352" y="4782313"/>
            <a:ext cx="3328416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+12.3%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52" y="5538978"/>
            <a:ext cx="332841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CBD5E0"/>
                </a:solidFill>
              </a:rPr>
              <a:t>AUC Gain vs Image-Only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60521" y="4709161"/>
            <a:ext cx="3474720" cy="1508760"/>
          </a:xfrm>
          <a:prstGeom prst="rect">
            <a:avLst/>
          </a:prstGeom>
          <a:solidFill>
            <a:srgbClr val="0A40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33673" y="4782313"/>
            <a:ext cx="3328416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91.4%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33673" y="5538978"/>
            <a:ext cx="332841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CBD5E0"/>
                </a:solidFill>
              </a:rPr>
              <a:t>Sensitivity (Phase 2v2)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863841" y="4709161"/>
            <a:ext cx="3474720" cy="1508760"/>
          </a:xfrm>
          <a:prstGeom prst="rect">
            <a:avLst/>
          </a:prstGeom>
          <a:solidFill>
            <a:srgbClr val="1A385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936992" y="4782313"/>
            <a:ext cx="3328416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0.946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36992" y="5538978"/>
            <a:ext cx="332841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CBD5E0"/>
                </a:solidFill>
              </a:rPr>
              <a:t>AUC on 3,763-img Scale-up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1" y="164592"/>
            <a:ext cx="1143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0E5FF"/>
                </a:solidFill>
              </a:rPr>
              <a:t>Phase 3c — X-Ray + Report + One Blood Test (WBC)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1" y="1142999"/>
            <a:ext cx="11430000" cy="18289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1" y="1280160"/>
            <a:ext cx="3566160" cy="2286001"/>
          </a:xfrm>
          <a:prstGeom prst="rect">
            <a:avLst/>
          </a:prstGeom>
          <a:solidFill>
            <a:srgbClr val="1A5276"/>
          </a:solidFill>
          <a:ln w="95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1" y="1353312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E5FF"/>
                </a:solidFill>
              </a:rPr>
              <a:t>Image Branch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1" y="1783080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</a:rPr>
              <a:t>CXR Image (PA view)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1" y="2286001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</a:rPr>
              <a:t>DenseNet-121 + CBAM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1" y="2788921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</a:rPr>
              <a:t>1024-d  (frozen)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1" y="1280160"/>
            <a:ext cx="3566160" cy="2286001"/>
          </a:xfrm>
          <a:prstGeom prst="rect">
            <a:avLst/>
          </a:prstGeom>
          <a:solidFill>
            <a:srgbClr val="12383A"/>
          </a:solidFill>
          <a:ln w="95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121" y="1353312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E5FF"/>
                </a:solidFill>
              </a:rPr>
              <a:t>Report Branch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1" y="1783080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</a:rPr>
              <a:t>Report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1" y="2286001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</a:rPr>
              <a:t>Bio_ClinicalBERT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1" y="2788921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</a:rPr>
              <a:t>768-d tokens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1" y="1280160"/>
            <a:ext cx="3566160" cy="2286001"/>
          </a:xfrm>
          <a:prstGeom prst="rect">
            <a:avLst/>
          </a:prstGeom>
          <a:solidFill>
            <a:srgbClr val="251045"/>
          </a:solidFill>
          <a:ln w="95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21041" y="1353312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E5FF"/>
                </a:solidFill>
              </a:rPr>
              <a:t>WBC Branch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1" y="1783080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</a:rPr>
              <a:t>WBC count (CBC)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1" y="2286001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</a:rPr>
              <a:t>MLP 1→128→128→64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1" y="2788921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</a:rPr>
              <a:t>64-d embedding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749040"/>
            <a:ext cx="6583680" cy="658369"/>
          </a:xfrm>
          <a:prstGeom prst="rect">
            <a:avLst/>
          </a:prstGeom>
          <a:solidFill>
            <a:srgbClr val="2A1A00"/>
          </a:solidFill>
          <a:ln w="9525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1" y="3840480"/>
            <a:ext cx="6217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67E22"/>
                </a:solidFill>
              </a:rPr>
              <a:t>Cross-Attention  →  512-d   (image queries report tokens)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1" y="4572000"/>
            <a:ext cx="11247120" cy="658369"/>
          </a:xfrm>
          <a:prstGeom prst="rect">
            <a:avLst/>
          </a:prstGeom>
          <a:solidFill>
            <a:srgbClr val="12263A"/>
          </a:solidFill>
          <a:ln w="9525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4663441"/>
            <a:ext cx="108813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ECC71"/>
                </a:solidFill>
              </a:rPr>
              <a:t>concat  [ 1024  +  512  +  64  =  1600-d 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1" y="5394960"/>
            <a:ext cx="11247120" cy="658369"/>
          </a:xfrm>
          <a:prstGeom prst="rect">
            <a:avLst/>
          </a:prstGeom>
          <a:solidFill>
            <a:srgbClr val="1A5276"/>
          </a:solidFill>
          <a:ln w="95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5486401"/>
            <a:ext cx="108813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MLP  1600 → 512 → 128 → 2   ⟹   Normal  /  Pneumonia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1" y="3749039"/>
            <a:ext cx="3383280" cy="1463040"/>
          </a:xfrm>
          <a:prstGeom prst="rect">
            <a:avLst/>
          </a:prstGeom>
          <a:solidFill>
            <a:srgbClr val="1E0A38"/>
          </a:solidFill>
          <a:ln w="63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549641" y="3822192"/>
            <a:ext cx="310895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CBD5E0"/>
                </a:solidFill>
              </a:rPr>
              <a:t>🩸 Why WBC?
CBC ready in 15 min
&gt;11,000/µL → infection likely
MLP learns non-linear thresholds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1" y="164592"/>
            <a:ext cx="1143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0E5FF"/>
                </a:solidFill>
              </a:rPr>
              <a:t>Phase 3c Results — AUC 0.971, Sensitivity 92.3%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1" y="1142999"/>
            <a:ext cx="11430000" cy="18289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1" y="1371600"/>
            <a:ext cx="2697480" cy="1645921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912" y="1444751"/>
            <a:ext cx="255117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</a:rPr>
              <a:t>0.971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2276857"/>
            <a:ext cx="255117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CBD5E0"/>
                </a:solidFill>
              </a:rPr>
              <a:t>AUC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1" y="1371600"/>
            <a:ext cx="2697480" cy="1645921"/>
          </a:xfrm>
          <a:prstGeom prst="rect">
            <a:avLst/>
          </a:prstGeom>
          <a:solidFill>
            <a:srgbClr val="0A40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73552" y="1444751"/>
            <a:ext cx="255117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</a:rPr>
              <a:t>92.3%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73552" y="2276857"/>
            <a:ext cx="255117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CBD5E0"/>
                </a:solidFill>
              </a:rPr>
              <a:t>Sensitivity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371600"/>
            <a:ext cx="2697480" cy="1645921"/>
          </a:xfrm>
          <a:prstGeom prst="rect">
            <a:avLst/>
          </a:prstGeom>
          <a:solidFill>
            <a:srgbClr val="1A385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08193" y="1444751"/>
            <a:ext cx="255117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</a:rPr>
              <a:t>93.6%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08193" y="2276857"/>
            <a:ext cx="255117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CBD5E0"/>
                </a:solidFill>
              </a:rPr>
              <a:t>Specificity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0" y="1371600"/>
            <a:ext cx="2697480" cy="1645921"/>
          </a:xfrm>
          <a:prstGeom prst="rect">
            <a:avLst/>
          </a:prstGeom>
          <a:solidFill>
            <a:srgbClr val="301A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42833" y="1444751"/>
            <a:ext cx="255117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</a:rPr>
              <a:t>92.9%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2833" y="2276857"/>
            <a:ext cx="255117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CBD5E0"/>
                </a:solidFill>
              </a:rPr>
              <a:t>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1" y="3154680"/>
            <a:ext cx="11430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i="1">
                <a:solidFill>
                  <a:srgbClr val="CBD5E0"/>
                </a:solidFill>
              </a:rPr>
              <a:t>Test: 565 patients  |  MIMIC-CXR 3,763-image scale-up  |  Youden-J threshold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566160"/>
            <a:ext cx="5394960" cy="685800"/>
          </a:xfrm>
          <a:prstGeom prst="rect">
            <a:avLst/>
          </a:prstGeom>
          <a:solidFill>
            <a:srgbClr val="0A301A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1" y="3639313"/>
            <a:ext cx="512063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ECC71"/>
                </a:solidFill>
              </a:rPr>
              <a:t>▲ +2.5% AUC over text-only Phase 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1" y="3566160"/>
            <a:ext cx="5852160" cy="685800"/>
          </a:xfrm>
          <a:prstGeom prst="rect">
            <a:avLst/>
          </a:prstGeom>
          <a:solidFill>
            <a:srgbClr val="0A301A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26480" y="3639313"/>
            <a:ext cx="54864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ECC71"/>
                </a:solidFill>
              </a:rPr>
              <a:t>▲ +5.7% Sensitivity  |  +4.5% Specificity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1" y="4407409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E5FF"/>
                </a:solidFill>
              </a:rPr>
              <a:t>Decision Threshold Options: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1" y="4846320"/>
            <a:ext cx="2775204" cy="329184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11481" y="4892040"/>
            <a:ext cx="268376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Threshold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77540" y="4846320"/>
            <a:ext cx="2775204" cy="329184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23260" y="4892040"/>
            <a:ext cx="268376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1" y="4846320"/>
            <a:ext cx="2775204" cy="329184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035041" y="4892040"/>
            <a:ext cx="268376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Sensitivity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01101" y="4846320"/>
            <a:ext cx="2775204" cy="329184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846821" y="4892040"/>
            <a:ext cx="268376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Specificity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1" y="5175504"/>
            <a:ext cx="2775204" cy="329184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1" y="5230368"/>
            <a:ext cx="268376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Default (0.50)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77540" y="5175504"/>
            <a:ext cx="2775204" cy="329184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223260" y="5230368"/>
            <a:ext cx="268376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92.4%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89321" y="5175504"/>
            <a:ext cx="2775204" cy="329184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035041" y="5230368"/>
            <a:ext cx="268376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94.7% ← max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01101" y="5175504"/>
            <a:ext cx="2775204" cy="329184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846821" y="5230368"/>
            <a:ext cx="268376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90.0%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1" y="5504688"/>
            <a:ext cx="2775204" cy="329184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1481" y="5559550"/>
            <a:ext cx="268376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Best-balance (0.559) 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77540" y="5504688"/>
            <a:ext cx="2775204" cy="329184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223260" y="5559550"/>
            <a:ext cx="268376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92.9%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89321" y="5504688"/>
            <a:ext cx="2775204" cy="329184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035041" y="5559550"/>
            <a:ext cx="268376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92.3%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01101" y="5504688"/>
            <a:ext cx="2775204" cy="329184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846821" y="5559550"/>
            <a:ext cx="268376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93.6%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1" y="5833872"/>
            <a:ext cx="2775204" cy="329184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11481" y="5888735"/>
            <a:ext cx="268376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Screening (0.575)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77540" y="5833872"/>
            <a:ext cx="2775204" cy="329184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223260" y="5888735"/>
            <a:ext cx="268376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92.7%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89321" y="5833872"/>
            <a:ext cx="2775204" cy="329184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035041" y="5888735"/>
            <a:ext cx="268376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91.2%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801101" y="5833872"/>
            <a:ext cx="2775204" cy="329184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846821" y="5888735"/>
            <a:ext cx="268376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94.3%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1" y="164592"/>
            <a:ext cx="1143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0E5FF"/>
                </a:solidFill>
              </a:rPr>
              <a:t>Ablation — Every Input Earns Its Place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1" y="1142999"/>
            <a:ext cx="11430000" cy="18289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1" y="1280160"/>
            <a:ext cx="1868424" cy="457200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1" y="1325880"/>
            <a:ext cx="177698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70761" y="1280160"/>
            <a:ext cx="1868424" cy="457200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316481" y="1325880"/>
            <a:ext cx="177698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What Goes In</a:t>
            </a:r>
          </a:p>
        </p:txBody>
      </p:sp>
      <p:sp>
        <p:nvSpPr>
          <p:cNvPr id="8" name="Rectangle 7"/>
          <p:cNvSpPr/>
          <p:nvPr/>
        </p:nvSpPr>
        <p:spPr>
          <a:xfrm>
            <a:off x="4175760" y="1280160"/>
            <a:ext cx="1868424" cy="457200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21480" y="1325880"/>
            <a:ext cx="177698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AUC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280160"/>
            <a:ext cx="1868424" cy="457200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0" y="1325880"/>
            <a:ext cx="177698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Sensitivity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85761" y="1280160"/>
            <a:ext cx="1868424" cy="457200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31481" y="1325880"/>
            <a:ext cx="177698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Specificity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90761" y="1280160"/>
            <a:ext cx="1868424" cy="457200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36481" y="1325880"/>
            <a:ext cx="177698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1" y="1737361"/>
            <a:ext cx="1868424" cy="457200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81" y="1792224"/>
            <a:ext cx="177698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Phase 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70761" y="1737361"/>
            <a:ext cx="1868424" cy="457200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316481" y="1792224"/>
            <a:ext cx="177698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X-ray only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75760" y="1737361"/>
            <a:ext cx="1868424" cy="457200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21480" y="1792224"/>
            <a:ext cx="177698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0.826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0760" y="1737361"/>
            <a:ext cx="1868424" cy="457200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26480" y="1792224"/>
            <a:ext cx="177698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71.0%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85761" y="1737361"/>
            <a:ext cx="1868424" cy="457200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31481" y="1792224"/>
            <a:ext cx="177698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90761" y="1737361"/>
            <a:ext cx="1868424" cy="457200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936481" y="1792224"/>
            <a:ext cx="177698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76.3%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1" y="2194561"/>
            <a:ext cx="1868424" cy="457200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11481" y="2249423"/>
            <a:ext cx="177698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Phase 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70761" y="2194561"/>
            <a:ext cx="1868424" cy="457200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316481" y="2249424"/>
            <a:ext cx="177698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X-ray + Report Text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75760" y="2194561"/>
            <a:ext cx="1868424" cy="457200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21480" y="2249423"/>
            <a:ext cx="177698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0.946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80760" y="2194561"/>
            <a:ext cx="1868424" cy="457200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126480" y="2249423"/>
            <a:ext cx="177698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86.6%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85761" y="2194561"/>
            <a:ext cx="1868424" cy="457200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31481" y="2249423"/>
            <a:ext cx="177698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89.1%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90761" y="2194561"/>
            <a:ext cx="1868424" cy="457200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936481" y="2249423"/>
            <a:ext cx="177698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87.8%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1" y="2651760"/>
            <a:ext cx="1868424" cy="457200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11481" y="2706624"/>
            <a:ext cx="177698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Phase 3c 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70761" y="2651760"/>
            <a:ext cx="1868424" cy="457200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316481" y="2706625"/>
            <a:ext cx="177698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X-ray + Text + WBC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75760" y="2651760"/>
            <a:ext cx="1868424" cy="457200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21480" y="2706624"/>
            <a:ext cx="177698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0.971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80760" y="2651760"/>
            <a:ext cx="1868424" cy="457200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126480" y="2706624"/>
            <a:ext cx="177698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92.3%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85761" y="2651760"/>
            <a:ext cx="1868424" cy="457200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031481" y="2706624"/>
            <a:ext cx="177698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93.6%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890761" y="2651760"/>
            <a:ext cx="1868424" cy="457200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936481" y="2706624"/>
            <a:ext cx="177698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92.9%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2834641"/>
            <a:ext cx="5486400" cy="548640"/>
          </a:xfrm>
          <a:prstGeom prst="rect">
            <a:avLst/>
          </a:prstGeom>
          <a:solidFill>
            <a:srgbClr val="0A2818"/>
          </a:solidFill>
          <a:ln w="63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2920" y="2907792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CC71"/>
                </a:solidFill>
              </a:rPr>
              <a:t>Adding Report Text:  +12.0% AUC   +15.6% Sensitivity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35042" y="2834641"/>
            <a:ext cx="5760719" cy="548640"/>
          </a:xfrm>
          <a:prstGeom prst="rect">
            <a:avLst/>
          </a:prstGeom>
          <a:solidFill>
            <a:srgbClr val="0A2818"/>
          </a:solidFill>
          <a:ln w="63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172200" y="2907792"/>
            <a:ext cx="5486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CC71"/>
                </a:solidFill>
              </a:rPr>
              <a:t>Adding WBC:   +2.5% AUC   +5.7% Sensitivity   (1 blood test!)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1" y="3566161"/>
            <a:ext cx="228600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E5FF"/>
                </a:solidFill>
              </a:rPr>
              <a:t>AUC Progress: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834641" y="3584448"/>
            <a:ext cx="7024237" cy="347472"/>
          </a:xfrm>
          <a:prstGeom prst="rect">
            <a:avLst/>
          </a:prstGeom>
          <a:solidFill>
            <a:srgbClr val="0D1B2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9858877" y="3584448"/>
            <a:ext cx="1020470" cy="347472"/>
          </a:xfrm>
          <a:prstGeom prst="rect">
            <a:avLst/>
          </a:prstGeom>
          <a:solidFill>
            <a:srgbClr val="E67E22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10879348" y="3584448"/>
            <a:ext cx="212598" cy="347472"/>
          </a:xfrm>
          <a:prstGeom prst="rect">
            <a:avLst/>
          </a:prstGeom>
          <a:solidFill>
            <a:srgbClr val="2ECC7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2926080" y="4005071"/>
            <a:ext cx="10972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74C3C"/>
                </a:solidFill>
              </a:rPr>
              <a:t>0.826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399" y="4005071"/>
            <a:ext cx="10972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67E22"/>
                </a:solidFill>
              </a:rPr>
              <a:t>0.946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1" y="4005071"/>
            <a:ext cx="10972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CC71"/>
                </a:solidFill>
              </a:rPr>
              <a:t>0.971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1" y="4480560"/>
            <a:ext cx="3703319" cy="2148840"/>
          </a:xfrm>
          <a:prstGeom prst="rect">
            <a:avLst/>
          </a:prstGeom>
          <a:solidFill>
            <a:srgbClr val="12263A"/>
          </a:solidFill>
          <a:ln w="63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57201" y="4572000"/>
            <a:ext cx="3520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E5FF"/>
                </a:solidFill>
              </a:rPr>
              <a:t>Text adds most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1" y="5029201"/>
            <a:ext cx="352044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CBD5E0"/>
                </a:solidFill>
              </a:rPr>
              <a:t>+12% AUC
Cross-attention
learns clinical
correspondence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297681" y="4480560"/>
            <a:ext cx="3703319" cy="2148840"/>
          </a:xfrm>
          <a:prstGeom prst="rect">
            <a:avLst/>
          </a:prstGeom>
          <a:solidFill>
            <a:srgbClr val="12263A"/>
          </a:solidFill>
          <a:ln w="63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389120" y="4572000"/>
            <a:ext cx="3520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E5FF"/>
                </a:solidFill>
              </a:rPr>
              <a:t>WBC adds key
sensitivity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89120" y="5029201"/>
            <a:ext cx="352044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CBD5E0"/>
                </a:solidFill>
              </a:rPr>
              <a:t>+5.7% Sens
1 blood test
15 minutes
from CBC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29601" y="4480560"/>
            <a:ext cx="3703319" cy="2148840"/>
          </a:xfrm>
          <a:prstGeom prst="rect">
            <a:avLst/>
          </a:prstGeom>
          <a:solidFill>
            <a:srgbClr val="12263A"/>
          </a:solidFill>
          <a:ln w="63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321040" y="4572000"/>
            <a:ext cx="3520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E5FF"/>
                </a:solidFill>
              </a:rPr>
              <a:t>Total gain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21040" y="5029201"/>
            <a:ext cx="352044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CBD5E0"/>
                </a:solidFill>
              </a:rPr>
              <a:t>0.826 → 0.971
+14.5% AUC
+21.3% Sensitivity
over image-only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1" y="164592"/>
            <a:ext cx="1143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0E5FF"/>
                </a:solidFill>
              </a:rPr>
              <a:t>Do We Need 17 Lab Tests? No — Just WBC.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1" y="1142999"/>
            <a:ext cx="11430000" cy="18289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2212848" cy="457200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1" y="1325880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2706624" y="1280160"/>
            <a:ext cx="2212848" cy="457200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52344" y="1325880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Extra Data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4956048" y="1280160"/>
            <a:ext cx="2212848" cy="457200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01769" y="1325880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AUC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05472" y="1280160"/>
            <a:ext cx="2212848" cy="457200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251192" y="1325880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Sensitivity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54896" y="1280160"/>
            <a:ext cx="2212848" cy="457200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500617" y="1325880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Specificity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737361"/>
            <a:ext cx="2212848" cy="457200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1" y="1792224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Phase 2v2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06624" y="1737361"/>
            <a:ext cx="2212848" cy="457200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52344" y="1792224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None (text only)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56048" y="1737361"/>
            <a:ext cx="2212848" cy="457200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01769" y="1792224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0.946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05472" y="1737361"/>
            <a:ext cx="2212848" cy="457200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51192" y="1792224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86.6%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54896" y="1737361"/>
            <a:ext cx="2212848" cy="457200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00617" y="1792224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89.1%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194561"/>
            <a:ext cx="2212848" cy="457200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2921" y="2249423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Phase 3c  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06624" y="2194561"/>
            <a:ext cx="2212848" cy="457200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752344" y="2249424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WBC only (1 blood test)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194561"/>
            <a:ext cx="2212848" cy="457200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01769" y="2249423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0.971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05472" y="2194561"/>
            <a:ext cx="2212848" cy="457200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251192" y="2249423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92.3%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54896" y="2194561"/>
            <a:ext cx="2212848" cy="457200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500617" y="2249423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93.6%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2651760"/>
            <a:ext cx="2212848" cy="457200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2921" y="2706624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Phase 3 full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06624" y="2651760"/>
            <a:ext cx="2212848" cy="457200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752344" y="2706624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All 17 lab features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56048" y="2651760"/>
            <a:ext cx="2212848" cy="457200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01769" y="2706624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0.989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05472" y="2651760"/>
            <a:ext cx="2212848" cy="457200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51192" y="2706624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89.1%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454896" y="2651760"/>
            <a:ext cx="2212848" cy="457200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500617" y="2706624"/>
            <a:ext cx="212140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94.3%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3520440"/>
            <a:ext cx="5394960" cy="2560320"/>
          </a:xfrm>
          <a:prstGeom prst="rect">
            <a:avLst/>
          </a:prstGeom>
          <a:solidFill>
            <a:srgbClr val="2A0A0A"/>
          </a:solidFill>
          <a:ln w="9525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94361" y="3593593"/>
            <a:ext cx="512063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74C3C"/>
                </a:solidFill>
              </a:rPr>
              <a:t>🏥  Full 17-Feature Model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1" y="4005073"/>
            <a:ext cx="512063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CBD5E0"/>
                </a:solidFill>
              </a:rPr>
              <a:t>Creatinine, CRP, albumin, vitals...
Ready: 1–4 hours after admission
AUC: 0.989
Sensitivity: 89.1%  ← misses more patients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39" y="3520440"/>
            <a:ext cx="5669281" cy="2560320"/>
          </a:xfrm>
          <a:prstGeom prst="rect">
            <a:avLst/>
          </a:prstGeom>
          <a:solidFill>
            <a:srgbClr val="0A2E0A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172200" y="3593593"/>
            <a:ext cx="53949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C71"/>
                </a:solidFill>
              </a:rPr>
              <a:t>✅  Phase 3c — WBC Only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72200" y="4005073"/>
            <a:ext cx="539496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CBD5E0"/>
                </a:solidFill>
              </a:rPr>
              <a:t>One CBC blood test
Ready: 15 minutes after arrival
AUC: 0.971
Sensitivity: 92.3%  ← catches MORE patients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1" y="6199633"/>
            <a:ext cx="11247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E5FF"/>
                </a:solidFill>
              </a:rPr>
              <a:t>Phase 3c closes 92.5% of the AUC gap using 1 of 17 features — and has higher sensitivity.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1" y="164592"/>
            <a:ext cx="1143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0E5FF"/>
                </a:solidFill>
              </a:rPr>
              <a:t>The Clinical Logic Behind the WBC Gain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1" y="1142999"/>
            <a:ext cx="11430000" cy="18289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1" y="1371601"/>
            <a:ext cx="4846320" cy="1737359"/>
          </a:xfrm>
          <a:prstGeom prst="rect">
            <a:avLst/>
          </a:prstGeom>
          <a:solidFill>
            <a:srgbClr val="1A5276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1" y="144475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E5FF"/>
                </a:solidFill>
              </a:rPr>
              <a:t>X-ray shows: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1" y="1828801"/>
            <a:ext cx="457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>
                <a:solidFill>
                  <a:srgbClr val="FFFFFF"/>
                </a:solidFill>
              </a:rPr>
              <a:t>"Opacity in the right
lower lobe"
(ambiguous)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1" y="1371601"/>
            <a:ext cx="4846320" cy="1737359"/>
          </a:xfrm>
          <a:prstGeom prst="rect">
            <a:avLst/>
          </a:prstGeom>
          <a:solidFill>
            <a:srgbClr val="1E0A38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995161" y="144475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E5FF"/>
                </a:solidFill>
              </a:rPr>
              <a:t>WBC shows: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1" y="1828801"/>
            <a:ext cx="457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>
                <a:solidFill>
                  <a:srgbClr val="FFFFFF"/>
                </a:solidFill>
              </a:rPr>
              <a:t>"WBC = 18,000/µL
Body is fighting
an infection"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1828801"/>
            <a:ext cx="128016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00E5FF"/>
                </a:solidFill>
              </a:rPr>
              <a:t>+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1" y="3337560"/>
            <a:ext cx="7589520" cy="1371600"/>
          </a:xfrm>
          <a:prstGeom prst="rect">
            <a:avLst/>
          </a:prstGeom>
          <a:solidFill>
            <a:srgbClr val="0A351A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1" y="3410713"/>
            <a:ext cx="7223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ECC71"/>
                </a:solidFill>
              </a:rPr>
              <a:t>HIGH confidence: PNEUMONIA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1" y="3886200"/>
            <a:ext cx="7223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CBD5E0"/>
                </a:solidFill>
              </a:rPr>
              <a:t>(Not fluid, not collapse — the body is mounting an immune response)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1" y="4937760"/>
            <a:ext cx="11247120" cy="960121"/>
          </a:xfrm>
          <a:prstGeom prst="rect">
            <a:avLst/>
          </a:prstGeom>
          <a:solidFill>
            <a:srgbClr val="2A1800"/>
          </a:solidFill>
          <a:ln w="9525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5010912"/>
            <a:ext cx="108813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i="1">
                <a:solidFill>
                  <a:srgbClr val="E67E22"/>
                </a:solidFill>
              </a:rPr>
              <a:t>A shadow on X-ray alone could be pneumonia, atelectasis, or pulmonary oedema.
WBC &gt; 11,000/µL decisively favours infection. Our model learns this logic from data — not hard-coded.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1" y="164592"/>
            <a:ext cx="1143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0E5FF"/>
                </a:solidFill>
              </a:rPr>
              <a:t>Honest 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1" y="1142999"/>
            <a:ext cx="11430000" cy="18289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5669281" cy="2377439"/>
          </a:xfrm>
          <a:prstGeom prst="rect">
            <a:avLst/>
          </a:prstGeom>
          <a:solidFill>
            <a:srgbClr val="12263A"/>
          </a:solidFill>
          <a:ln w="9525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1371601"/>
            <a:ext cx="53949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74C3C"/>
                </a:solidFill>
              </a:rPr>
              <a:t>🏥  Single Hospital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1" y="1828801"/>
            <a:ext cx="530352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CBD5E0"/>
                </a:solidFill>
              </a:rPr>
              <a:t>• All data: BIDMC, USA
• Results may not hold at
• Indian or other hospitals
• TB co-infection changes patterns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280160"/>
            <a:ext cx="5669281" cy="2377439"/>
          </a:xfrm>
          <a:prstGeom prst="rect">
            <a:avLst/>
          </a:prstGeom>
          <a:solidFill>
            <a:srgbClr val="12263A"/>
          </a:solidFill>
          <a:ln w="9525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73367" y="1371601"/>
            <a:ext cx="53949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7E22"/>
                </a:solidFill>
              </a:rPr>
              <a:t>🔢  Binary Task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28801"/>
            <a:ext cx="530352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CBD5E0"/>
                </a:solidFill>
              </a:rPr>
              <a:t>• Normal vs Pneumonia only
• Real X-rays: 14+ pathologies
• Multi-label extension needed
• for clinical deployment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840480"/>
            <a:ext cx="5669281" cy="2377439"/>
          </a:xfrm>
          <a:prstGeom prst="rect">
            <a:avLst/>
          </a:prstGeom>
          <a:solidFill>
            <a:srgbClr val="12263A"/>
          </a:solidFill>
          <a:ln w="95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" y="3931921"/>
            <a:ext cx="53949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E5FF"/>
                </a:solidFill>
              </a:rPr>
              <a:t>🧪  WBC Imputation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1" y="4389119"/>
            <a:ext cx="530352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CBD5E0"/>
                </a:solidFill>
              </a:rPr>
              <a:t>• ~15% of WBC values missing
• Filled with training-set median
• Real deployment needs better
• missing-value handling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840480"/>
            <a:ext cx="5669281" cy="2377439"/>
          </a:xfrm>
          <a:prstGeom prst="rect">
            <a:avLst/>
          </a:prstGeom>
          <a:solidFill>
            <a:srgbClr val="12263A"/>
          </a:solidFill>
          <a:ln w="9525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3367" y="3931921"/>
            <a:ext cx="53949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C71"/>
                </a:solidFill>
              </a:rPr>
              <a:t>✅  Data Ethics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389119"/>
            <a:ext cx="530352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CBD5E0"/>
                </a:solidFill>
              </a:rPr>
              <a:t>• MIMIC-CXR: PhysioNet DUA
• CITI ethics training completed
• No patient data shared
• in this report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1" y="164592"/>
            <a:ext cx="1143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0E5FF"/>
                </a:solidFill>
              </a:rPr>
              <a:t>Next Phase — Validate on Indian Hospital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1" y="1142999"/>
            <a:ext cx="11430000" cy="18289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1" y="1371600"/>
            <a:ext cx="914400" cy="868680"/>
          </a:xfrm>
          <a:prstGeom prst="rect">
            <a:avLst/>
          </a:prstGeom>
          <a:solidFill>
            <a:srgbClr val="E74C3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84050" y="1481330"/>
            <a:ext cx="87782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D1B2A"/>
                </a:solidFill>
              </a:rPr>
              <a:t>✅ Phase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599" y="1371600"/>
            <a:ext cx="5303520" cy="868680"/>
          </a:xfrm>
          <a:prstGeom prst="rect">
            <a:avLst/>
          </a:prstGeom>
          <a:solidFill>
            <a:srgbClr val="12263A"/>
          </a:solidFill>
          <a:ln w="63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08760" y="1444752"/>
            <a:ext cx="50292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FFFFF"/>
                </a:solidFill>
              </a:rPr>
              <a:t>X-ray only (MIMIC-CXR, USA)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847089"/>
            <a:ext cx="502920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74C3C"/>
                </a:solidFill>
              </a:rPr>
              <a:t>AUC 0.826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1" y="2487168"/>
            <a:ext cx="914400" cy="868680"/>
          </a:xfrm>
          <a:prstGeom prst="rect">
            <a:avLst/>
          </a:prstGeom>
          <a:solidFill>
            <a:srgbClr val="E67E22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4050" y="2596898"/>
            <a:ext cx="87782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D1B2A"/>
                </a:solidFill>
              </a:rPr>
              <a:t>✅ Phase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599" y="2487168"/>
            <a:ext cx="5303520" cy="868680"/>
          </a:xfrm>
          <a:prstGeom prst="rect">
            <a:avLst/>
          </a:prstGeom>
          <a:solidFill>
            <a:srgbClr val="12263A"/>
          </a:solidFill>
          <a:ln w="635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08760" y="2560320"/>
            <a:ext cx="50292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FFFFF"/>
                </a:solidFill>
              </a:rPr>
              <a:t>X-ray + Report Text (MIMIC-CXR)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62657"/>
            <a:ext cx="502920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7E22"/>
                </a:solidFill>
              </a:rPr>
              <a:t>AUC 0.949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1" y="3602736"/>
            <a:ext cx="914400" cy="868680"/>
          </a:xfrm>
          <a:prstGeom prst="rect">
            <a:avLst/>
          </a:prstGeom>
          <a:solidFill>
            <a:srgbClr val="2ECC7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4050" y="3712464"/>
            <a:ext cx="87782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D1B2A"/>
                </a:solidFill>
              </a:rPr>
              <a:t>⭐ Phase 3c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599" y="3602736"/>
            <a:ext cx="5303520" cy="868680"/>
          </a:xfrm>
          <a:prstGeom prst="rect">
            <a:avLst/>
          </a:prstGeom>
          <a:solidFill>
            <a:srgbClr val="12263A"/>
          </a:solidFill>
          <a:ln w="63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08760" y="3675886"/>
            <a:ext cx="50292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FFFFF"/>
                </a:solidFill>
              </a:rPr>
              <a:t>X-ray + Report + WBC (MIMIC-CXR)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078225"/>
            <a:ext cx="502920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CC71"/>
                </a:solidFill>
              </a:rPr>
              <a:t>AUC 0.971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1" y="4718304"/>
            <a:ext cx="914400" cy="868680"/>
          </a:xfrm>
          <a:prstGeom prst="rect">
            <a:avLst/>
          </a:prstGeom>
          <a:solidFill>
            <a:srgbClr val="00E5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84050" y="4828034"/>
            <a:ext cx="87782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D1B2A"/>
                </a:solidFill>
              </a:rPr>
              <a:t>🔜 Phase 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599" y="4718304"/>
            <a:ext cx="5303520" cy="868680"/>
          </a:xfrm>
          <a:prstGeom prst="rect">
            <a:avLst/>
          </a:prstGeom>
          <a:solidFill>
            <a:srgbClr val="12263A"/>
          </a:solidFill>
          <a:ln w="63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508760" y="4791456"/>
            <a:ext cx="50292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FFFFF"/>
                </a:solidFill>
              </a:rPr>
              <a:t>Indian hospital: CXR + WBC (planned)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193793"/>
            <a:ext cx="502920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E5FF"/>
                </a:solidFill>
              </a:rPr>
              <a:t>TBD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1" y="2834640"/>
            <a:ext cx="73152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00E5FF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1" y="1280160"/>
            <a:ext cx="4572000" cy="4297681"/>
          </a:xfrm>
          <a:prstGeom prst="rect">
            <a:avLst/>
          </a:prstGeom>
          <a:solidFill>
            <a:srgbClr val="12263A"/>
          </a:solidFill>
          <a:ln w="95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52359" y="1371601"/>
            <a:ext cx="429768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E5FF"/>
                </a:solidFill>
              </a:rPr>
              <a:t>Why India Matters: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59" y="1828801"/>
            <a:ext cx="4297681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CBD5E0"/>
                </a:solidFill>
              </a:rPr>
              <a:t>• TB co-infection → different X-ray
• patterns vs US pneumonia
• Malnutrition → altered immune
• response &amp; WBC ranges
• Scanner variety → different image
• quality from MIMIC-CXR standard
• Resource-limited setting → model
• has real clinical impact here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1" y="5669280"/>
            <a:ext cx="1143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E5FF"/>
                </a:solidFill>
              </a:rPr>
              <a:t>Goal: fine-tune Phase 3c on Indian cohort and test whether X-ray + WBC generalises across populations.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1" y="164592"/>
            <a:ext cx="1143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0E5FF"/>
                </a:solidFill>
              </a:rPr>
              <a:t>The Complete PneumoFusionNet Journey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1" y="1142999"/>
            <a:ext cx="11430000" cy="18289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0" y="1234440"/>
            <a:ext cx="5303520" cy="347472"/>
          </a:xfrm>
          <a:prstGeom prst="rect">
            <a:avLst/>
          </a:prstGeom>
          <a:solidFill>
            <a:srgbClr val="E74C3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53035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PART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1" y="1234440"/>
            <a:ext cx="6217920" cy="347472"/>
          </a:xfrm>
          <a:prstGeom prst="rect">
            <a:avLst/>
          </a:prstGeom>
          <a:solidFill>
            <a:srgbClr val="1A4A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852161" y="1234440"/>
            <a:ext cx="62179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PART 2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1" y="1645920"/>
            <a:ext cx="2103120" cy="2560320"/>
          </a:xfrm>
          <a:prstGeom prst="rect">
            <a:avLst/>
          </a:prstGeom>
          <a:solidFill>
            <a:srgbClr val="12263A"/>
          </a:solidFill>
          <a:ln w="9525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" y="1719073"/>
            <a:ext cx="1956816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74C3C"/>
                </a:solidFill>
              </a:rPr>
              <a:t>Stage 0
Public
Datasets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2697481"/>
            <a:ext cx="19568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CBD5E0"/>
                </a:solidFill>
              </a:rPr>
              <a:t>Kaggle/IU
Arch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3310129"/>
            <a:ext cx="195681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74C3C"/>
                </a:solidFill>
              </a:rPr>
              <a:t>AUC 0.97
(Kaggle)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1645920"/>
            <a:ext cx="2103120" cy="2560320"/>
          </a:xfrm>
          <a:prstGeom prst="rect">
            <a:avLst/>
          </a:prstGeom>
          <a:solidFill>
            <a:srgbClr val="12263A"/>
          </a:solidFill>
          <a:ln w="9525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724912" y="1719073"/>
            <a:ext cx="1956816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74C3C"/>
                </a:solidFill>
              </a:rPr>
              <a:t>Stage 1
MIMIC
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24912" y="2697480"/>
            <a:ext cx="19568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CBD5E0"/>
                </a:solidFill>
              </a:rPr>
              <a:t>139 imgs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24912" y="3310128"/>
            <a:ext cx="195681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74C3C"/>
                </a:solidFill>
              </a:rPr>
              <a:t>AUC 0.85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61" y="1645920"/>
            <a:ext cx="2103120" cy="2560320"/>
          </a:xfrm>
          <a:prstGeom prst="rect">
            <a:avLst/>
          </a:prstGeom>
          <a:solidFill>
            <a:srgbClr val="12263A"/>
          </a:solidFill>
          <a:ln w="9525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10911" y="1719073"/>
            <a:ext cx="1956816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67E22"/>
                </a:solidFill>
              </a:rPr>
              <a:t>Stage 2
MIMIC
Scale-up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0911" y="2697481"/>
            <a:ext cx="19568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CBD5E0"/>
                </a:solidFill>
              </a:rPr>
              <a:t>DenseNet
+CBAM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1" y="3310128"/>
            <a:ext cx="195681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67E22"/>
                </a:solidFill>
              </a:rPr>
              <a:t>AUC 0.826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1" y="1645920"/>
            <a:ext cx="2103120" cy="2560320"/>
          </a:xfrm>
          <a:prstGeom prst="rect">
            <a:avLst/>
          </a:prstGeom>
          <a:solidFill>
            <a:srgbClr val="12263A"/>
          </a:solidFill>
          <a:ln w="9525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96912" y="1719073"/>
            <a:ext cx="1956816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67E22"/>
                </a:solidFill>
              </a:rPr>
              <a:t>Phase 2
Image +
Report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96912" y="2697481"/>
            <a:ext cx="19568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CBD5E0"/>
                </a:solidFill>
              </a:rPr>
              <a:t>Cross-
Attention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96912" y="3310128"/>
            <a:ext cx="195681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67E22"/>
                </a:solidFill>
              </a:rPr>
              <a:t>AUC 0.949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09760" y="1645920"/>
            <a:ext cx="2103120" cy="2560320"/>
          </a:xfrm>
          <a:prstGeom prst="rect">
            <a:avLst/>
          </a:prstGeom>
          <a:solidFill>
            <a:srgbClr val="12263A"/>
          </a:solidFill>
          <a:ln w="9525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582912" y="1719073"/>
            <a:ext cx="1956816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CC71"/>
                </a:solidFill>
              </a:rPr>
              <a:t>Phase 3c
Image+Text
+WBC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82912" y="2697481"/>
            <a:ext cx="19568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CBD5E0"/>
                </a:solidFill>
              </a:rPr>
              <a:t>One blood
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82912" y="3310128"/>
            <a:ext cx="195681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CC71"/>
                </a:solidFill>
              </a:rPr>
              <a:t>AUC 0.971 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434839"/>
            <a:ext cx="3749039" cy="2148840"/>
          </a:xfrm>
          <a:prstGeom prst="rect">
            <a:avLst/>
          </a:prstGeom>
          <a:solidFill>
            <a:srgbClr val="12263A"/>
          </a:solidFill>
          <a:ln w="63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1" y="4526280"/>
            <a:ext cx="35661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E5FF"/>
                </a:solidFill>
              </a:rPr>
              <a:t>Lesson 1: Domain matters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1" y="5166360"/>
            <a:ext cx="35661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CBD5E0"/>
                </a:solidFill>
              </a:rPr>
              <a:t>ImageNet pretraining fails on clinical X-rays.
DenseNet on 500K real CXRs works.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0" y="4434839"/>
            <a:ext cx="3749039" cy="2148840"/>
          </a:xfrm>
          <a:prstGeom prst="rect">
            <a:avLst/>
          </a:prstGeom>
          <a:solidFill>
            <a:srgbClr val="12263A"/>
          </a:solidFill>
          <a:ln w="63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89121" y="4526280"/>
            <a:ext cx="35661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E5FF"/>
                </a:solidFill>
              </a:rPr>
              <a:t>Lesson 2: Anti-leakage is non-negotiable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1" y="5166360"/>
            <a:ext cx="35661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CBD5E0"/>
                </a:solidFill>
              </a:rPr>
              <a:t>Strip IMPRESSION every time.
90%+ of papers get this wrong.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4434839"/>
            <a:ext cx="3749039" cy="2148840"/>
          </a:xfrm>
          <a:prstGeom prst="rect">
            <a:avLst/>
          </a:prstGeom>
          <a:solidFill>
            <a:srgbClr val="12263A"/>
          </a:solidFill>
          <a:ln w="63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321041" y="4526281"/>
            <a:ext cx="3566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E5FF"/>
                </a:solidFill>
              </a:rPr>
              <a:t>Lesson 3: One good biomarker
beats many weak ones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1" y="5166360"/>
            <a:ext cx="35661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CBD5E0"/>
                </a:solidFill>
              </a:rPr>
              <a:t>WBC from CBC (15 min) closes
92.5% of the 17-lab-test gap.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1" y="164592"/>
            <a:ext cx="1143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00E5FF"/>
                </a:solidFill>
              </a:rPr>
              <a:t>Summary — What Part 2 Showed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1" y="1142999"/>
            <a:ext cx="11430000" cy="18289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1" y="1280160"/>
            <a:ext cx="2249423" cy="402337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Input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2" y="1280160"/>
            <a:ext cx="2249423" cy="402337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697478" y="1325880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AUC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61" y="1280160"/>
            <a:ext cx="2249423" cy="402337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983480" y="1325880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Sensitivity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1" y="1280160"/>
            <a:ext cx="2249423" cy="402337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269479" y="1325880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Specificity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09761" y="1280160"/>
            <a:ext cx="2249423" cy="402337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555480" y="1325880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1" y="1682495"/>
            <a:ext cx="2249423" cy="402337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" y="1737359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X-ray only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2" y="1682495"/>
            <a:ext cx="2249423" cy="402337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97478" y="1737359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0.826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37761" y="1682495"/>
            <a:ext cx="2249423" cy="402337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83480" y="1737359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71.0%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1" y="1682495"/>
            <a:ext cx="2249423" cy="402337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69479" y="1737359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09761" y="1682495"/>
            <a:ext cx="2249423" cy="402337"/>
          </a:xfrm>
          <a:prstGeom prst="rect">
            <a:avLst/>
          </a:prstGeom>
          <a:solidFill>
            <a:srgbClr val="173047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55480" y="1737359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76.3%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1" y="2084831"/>
            <a:ext cx="2249423" cy="402337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11480" y="2139696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+ Report Text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51762" y="2084831"/>
            <a:ext cx="2249423" cy="402337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697478" y="2139696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0.949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37761" y="2084831"/>
            <a:ext cx="2249423" cy="402337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983480" y="2139696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91.4%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3761" y="2084831"/>
            <a:ext cx="2249423" cy="402337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269479" y="2139696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86.3%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1" y="2084831"/>
            <a:ext cx="2249423" cy="402337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555480" y="2139696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88.6%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1" y="2487168"/>
            <a:ext cx="2249423" cy="402337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1480" y="2542032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+ WBC  (1 test)  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51762" y="2487168"/>
            <a:ext cx="2249423" cy="402337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697478" y="2542032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0.971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1" y="2487168"/>
            <a:ext cx="2249423" cy="402337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983480" y="2542032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92.3%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23761" y="2487168"/>
            <a:ext cx="2249423" cy="402337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69479" y="2542032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93.6%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09761" y="2487168"/>
            <a:ext cx="2249423" cy="402337"/>
          </a:xfrm>
          <a:prstGeom prst="rect">
            <a:avLst/>
          </a:prstGeom>
          <a:solidFill>
            <a:srgbClr val="2ECC71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555480" y="2542032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92.9%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1" y="2889504"/>
            <a:ext cx="2249423" cy="402337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11480" y="2944368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Total gain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51762" y="2889504"/>
            <a:ext cx="2249423" cy="402337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697478" y="2944368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+14.5%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37761" y="2889504"/>
            <a:ext cx="2249423" cy="402337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983480" y="2944368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+21.3%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223761" y="2889504"/>
            <a:ext cx="2249423" cy="402337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269479" y="2944368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509761" y="2889504"/>
            <a:ext cx="2249423" cy="402337"/>
          </a:xfrm>
          <a:prstGeom prst="rect">
            <a:avLst/>
          </a:prstGeom>
          <a:solidFill>
            <a:srgbClr val="12263A"/>
          </a:solidFill>
          <a:ln w="6350">
            <a:solidFill>
              <a:srgbClr val="2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555480" y="2944368"/>
            <a:ext cx="215798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+16.6%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1" y="3520440"/>
            <a:ext cx="11430000" cy="2377439"/>
          </a:xfrm>
          <a:prstGeom prst="rect">
            <a:avLst/>
          </a:prstGeom>
          <a:solidFill>
            <a:srgbClr val="12263A"/>
          </a:solidFill>
          <a:ln w="95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48641" y="3593593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E5FF"/>
                </a:solidFill>
              </a:rPr>
              <a:t>Key Takeaways: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39" y="4023361"/>
            <a:ext cx="1106424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CBD5E0"/>
                </a:solidFill>
              </a:rPr>
              <a:t>① X-ray alone hits a ceiling — clinical context breaks it.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39" y="4407409"/>
            <a:ext cx="1106424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dirty="0">
                <a:solidFill>
                  <a:srgbClr val="CBD5E0"/>
                </a:solidFill>
              </a:rPr>
              <a:t>② Leakage-free report text gives the biggest single AUC jump (+12%).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39" y="4791457"/>
            <a:ext cx="1106424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CBD5E0"/>
                </a:solidFill>
              </a:rPr>
              <a:t>③ WBC adds +5.7% sensitivity with 1 blood test ready in 15 minutes.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39" y="5175505"/>
            <a:ext cx="1106424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CBD5E0"/>
                </a:solidFill>
              </a:rPr>
              <a:t>④ Phase 3c beats the full 17-feature model on sensitivity — simpler is better.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39" y="5559553"/>
            <a:ext cx="1106424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CBD5E0"/>
                </a:solidFill>
              </a:rPr>
              <a:t>⑤ Next: collect Indian hospital data (CXR + WBC) and validate generalisation.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" y="6172200"/>
            <a:ext cx="12188952" cy="685800"/>
          </a:xfrm>
          <a:prstGeom prst="rect">
            <a:avLst/>
          </a:prstGeom>
          <a:solidFill>
            <a:srgbClr val="1A527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82880" y="6236208"/>
            <a:ext cx="1179575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CBD5E0"/>
                </a:solidFill>
              </a:rPr>
              <a:t>Ashutosh Yadav  |  Roll: 23035010693  |  IIT Guwahati  |  github.com/Ashutosh-yadav0001/PneumoFusionNet  |  MIMIC-CXR: PhysioNet DUA + CITI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chway">
  <a:themeElements>
    <a:clrScheme name="Archway">
      <a:dk1>
        <a:sysClr val="windowText" lastClr="000000"/>
      </a:dk1>
      <a:lt1>
        <a:sysClr val="window" lastClr="FFFFFF"/>
      </a:lt1>
      <a:dk2>
        <a:srgbClr val="424C4E"/>
      </a:dk2>
      <a:lt2>
        <a:srgbClr val="EDE9E7"/>
      </a:lt2>
      <a:accent1>
        <a:srgbClr val="9FA597"/>
      </a:accent1>
      <a:accent2>
        <a:srgbClr val="AEA67E"/>
      </a:accent2>
      <a:accent3>
        <a:srgbClr val="957D71"/>
      </a:accent3>
      <a:accent4>
        <a:srgbClr val="C88769"/>
      </a:accent4>
      <a:accent5>
        <a:srgbClr val="97A4AA"/>
      </a:accent5>
      <a:accent6>
        <a:srgbClr val="9FA4A5"/>
      </a:accent6>
      <a:hlink>
        <a:srgbClr val="8C9484"/>
      </a:hlink>
      <a:folHlink>
        <a:srgbClr val="C17957"/>
      </a:folHlink>
    </a:clrScheme>
    <a:fontScheme name="Archway">
      <a:majorFont>
        <a:latin typeface="Felix Titling"/>
        <a:ea typeface=""/>
        <a:cs typeface=""/>
      </a:majorFont>
      <a:minorFont>
        <a:latin typeface="Goudy Old Styl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rchway" id="{CCBE687C-D9F1-4254-B066-5079611C2397}" vid="{9D57D580-D4A7-454F-BF49-8DDDB4A8185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Archway</Template>
  <TotalTime>13</TotalTime>
  <Words>1881</Words>
  <Application>Microsoft Office PowerPoint</Application>
  <PresentationFormat>Custom</PresentationFormat>
  <Paragraphs>325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Felix Titling</vt:lpstr>
      <vt:lpstr>Goudy Old Style</vt:lpstr>
      <vt:lpstr>Archway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Ashutosh Yadav</cp:lastModifiedBy>
  <cp:revision>2</cp:revision>
  <dcterms:created xsi:type="dcterms:W3CDTF">2013-01-27T09:14:16Z</dcterms:created>
  <dcterms:modified xsi:type="dcterms:W3CDTF">2026-09-03T18:07:31Z</dcterms:modified>
  <cp:category/>
</cp:coreProperties>
</file>