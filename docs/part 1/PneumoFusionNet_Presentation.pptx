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14"/>
  </p:notesMasterIdLst>
  <p:sldIdLst>
    <p:sldId id="26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16C65-180E-48C6-85C2-68CEB51A0FE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6C2D6-ECDF-4127-9C25-71D094A40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919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"Hello, my name is Ashutosh Yadav, Roll Number 23035010693, from the B.Sc. Data Science and Artificial Intelligence programme at IIT Guwahati.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my Term 8 project presentation on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PneumoFusionNet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multimodal deep learning framework for pneumonia detection using chest X-rays and clinical reports.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work is inspired by the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PneumoFusion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-Net paper published in Frontiers in Physiology in March 2025 by Yu et al.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me walk you through the complete research journey — from validating our architecture on public datasets, to accessing restricted clinical data, to the surprising failure that changed our direction."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78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Pneumonia kills approximately 2.5 million people every year. Chest X-ray is the primary diagnostic tool because it's fast and affordable.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reading a chest X-ray is genuinely difficult. The same cloudy area can look like pneumonia, fluid buildup, or a collapsed lung section. Even expert radiologists disagree about 20% of the time.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Existing AI models are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image-only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they ignore the clinical context that every real doctor uses: patient symptoms, lab results, and the written radiology report.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Adding the report text should help resolve this ambiguity. But there's a critical trap called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 leakage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if the model reads the radiologist's final conclusion during training, it simply memorises the answer instead of actually learning to diagnose.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solution —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PneumoFusionNet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handles this with a strict anti-leakage pipeline and uses the restricted MIMIC-CXR hospital database.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834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touching any clinical data, we designed and validated a custom image backbone consisting of three components.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ResNet50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standard deep learning backbone pretrained on ImageNet. We adapted its first convolutional layer to accept single-channel grayscale X-ray images by averaging the pretrained RGB weights.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Depthwise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Separable Convolution — DSC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this compresses the 2048-channel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 to 1024 channels using approximately 50% fewer parameters compared to a standard convolution. The mathematical formulation is shown on screen.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Global Context Spatial Attention — GCSA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this tells the network 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features to focus on through channel attention, and 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image to look through spatial attention. Together, they help the model concentrate on the actual pathological regions in the lung.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output is a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1024-dimensional image feature vector</a:t>
            </a: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057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validated this architecture on public datasets first.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Kaggle Chest X-Ray dataset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5,216 images — we achieved 92% accuracy and F1 of 0.91. The IU X-Ray experiments confirmed that our multimodal pipeline code ran correctly end-to-end.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 — and this is important — 92% on Kaggle only confirms the code is correct. It says nothing about clinical readiness. Kaggle data is pre-cleaned, balanced, and far too easy compared to real hospital data.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searched for a better dataset. We needed three things simultaneously: chest X-ray images, clinical history, and full radiology reports with separate FINDINGS and IMPRESSION sections.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evaluating Kaggle, IU, NIH, and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CheXpert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identified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MIMIC-CXR-JPG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the only dataset meeting all requirements.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MIMIC-CXR is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publicly downloadable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Accessing it required completing CITI Program ethics training and signing a PhysioNet Data Use Agreement.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5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efore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running a single experiment on MIMIC-CXR, we built our anti-leakage data pipeline. This is the most critical design decision in the entire project.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radiology report has an IMPRESSION section — the radiologist's final written diagnosis. If our model ever reads this during training, it's not learning to diagnose — it's just reading the answer.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developed a script called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rebuild_dataset_findings.py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parses every report, retains the INDICATION and FINDINGS sections which contain pre-diagnosis clinical evidence, and completely strips the IMPRESSION and CONCLUSION sections.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architecture works in two phases shown on the right: The image branch passes through ResNet50, DSC, and GCSA to produce a 1024-dimensional vector. The text branch feeds the leakage-free report into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Bio_ClinicalBERT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 BERT model pretrained on millions of clinical notes — producing a 768-dimensional vector.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vectors are concatenated into 1792 dimensions and classified by a fusion MLP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609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pilot study, we extracted 139 samples from MIMIC-CXR — 118 Normal and 21 Pneumonia — giving a 5.6 to 1 class imbalance. We ran four systematic phases.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 — image only, realistic imbalanced split: AUC of 0.667.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1.1 — image only, artificially balanced: AUC jumps to 0.917. But as we'll see, this number is misleading.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 — image plus leakage-free text, imbalanced: AUC improves to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0.704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that's a genuine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+3.7% gain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over Phase 1.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2.1 — image plus text, balanced: AUC of 0.917 again.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result is in the green row — on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realistic imbalanced split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adding text from FINDINGS and INDICATION — with IMPRESSION completely stripped — genuinely helped the model.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proves that the clinical text contains real diagnostic signal beyond what the image shows</a:t>
            </a:r>
          </a:p>
          <a:p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170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here is where scientific honesty becomes critical.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balanced test set had exactly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 samples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One misclassification changes the accuracy by 14.28 percent.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the standard 95% confidence interval formula, Phase 1.1's accuracy of 85.7% has a confidence interval of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59.8% to 100%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an enormous range.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Fisher's Exact Test gives p approximately equal to 1.0 — the difference between phases is completely statistically insignificant.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AUC of 0.917 on 7 samples is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 meaningless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Documenting this gap honestly is one of the most important scientific contributions of Part 1. We cannot make clinical claims from 7 test samples. We must scale up — and that is exactly what we did next.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708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 1 delivered four critical findings.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 1: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Public benchmarks do not predict clinical performance. 92% on Kaggle became 66% on real hospital data.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 2: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anti-leakage text pipeline works. Stripping IMPRESSION and using only FINDINGS produced a genuine +3.7% AUC gain.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 3: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Small test sets are statistically meaningless. AUC of 0.917 on 7 samples has a confidence interval spanning the entire range from 59% to 100%.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 4: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architecture must change. ResNet50 with ImageNet pretraining cannot handle clinical-scale CXR pathology detection. A different backbone is required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605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summarise Part 1 — we delivered three contributions: a robust anti-leakage data pipeline, rigorous proof that public dataset results don't transfer to clinical environments, and an honest failure at scale that tells us exactly what to do next.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solution is on the right —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DenseNet-121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the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torchxrayvision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library, pretrained on over 500,000 actual chest X-rays from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CheXpert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NIH ChestX-ray14, and MIMIC-CXR itself. Every weight in this network was learned from real radiological images. This directly solves the domain mismatch failure we observed.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Part 2, we will scale to the full 1,989-image dataset with patient-level splits, add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Bio_ClinicalBERT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 fusion with cross-attention, incorporate MIMIC-IV lab values as a third modality, and use 5-fold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GroupKFold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cross-validation for statistically robust evaluation.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watching. The full code is available on GitHub, and all MIMIC-CXR data access follows the PhysioNet DUA requirements.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6C2D6-ECDF-4127-9C25-71D094A408C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957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4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9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5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84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5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8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2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33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5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EE2BE142-6219-4A32-A8D4-FAE1D2C0A131}"/>
              </a:ext>
            </a:extLst>
          </p:cNvPr>
          <p:cNvGrpSpPr/>
          <p:nvPr/>
        </p:nvGrpSpPr>
        <p:grpSpPr>
          <a:xfrm>
            <a:off x="0" y="-17801"/>
            <a:ext cx="12192000" cy="6858000"/>
            <a:chOff x="0" y="0"/>
            <a:chExt cx="12192000" cy="6858000"/>
          </a:xfrm>
        </p:grpSpPr>
        <p:sp>
          <p:nvSpPr>
            <p:cNvPr id="4" name="Shape 2"/>
            <p:cNvSpPr/>
            <p:nvPr/>
          </p:nvSpPr>
          <p:spPr>
            <a:xfrm>
              <a:off x="0" y="146304"/>
              <a:ext cx="3413760" cy="65592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/>
            <p:cNvSpPr/>
            <p:nvPr/>
          </p:nvSpPr>
          <p:spPr>
            <a:xfrm>
              <a:off x="370311" y="4526280"/>
              <a:ext cx="2663405" cy="487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1FD539-0B18-4B17-AC3E-6C2E56F41895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5" name="Shape 0"/>
              <p:cNvSpPr/>
              <p:nvPr/>
            </p:nvSpPr>
            <p:spPr>
              <a:xfrm>
                <a:off x="0" y="0"/>
                <a:ext cx="12192000" cy="146304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" name="Shape 1"/>
              <p:cNvSpPr/>
              <p:nvPr/>
            </p:nvSpPr>
            <p:spPr>
              <a:xfrm>
                <a:off x="0" y="6705600"/>
                <a:ext cx="12192000" cy="152400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3315642" y="146304"/>
                <a:ext cx="8876358" cy="6559296"/>
              </a:xfrm>
              <a:prstGeom prst="rect">
                <a:avLst/>
              </a:prstGeom>
              <a:solidFill>
                <a:srgbClr val="003366"/>
              </a:solidFill>
              <a:ln w="12700">
                <a:solidFill>
                  <a:srgbClr val="003366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E8F91F1-D33C-48E9-9439-A6687AFA7DFD}"/>
                </a:ext>
              </a:extLst>
            </p:cNvPr>
            <p:cNvGrpSpPr/>
            <p:nvPr/>
          </p:nvGrpSpPr>
          <p:grpSpPr>
            <a:xfrm>
              <a:off x="3655695" y="426720"/>
              <a:ext cx="3048000" cy="463296"/>
              <a:chOff x="3655695" y="426720"/>
              <a:chExt cx="3048000" cy="463296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3655695" y="426720"/>
                <a:ext cx="3048000" cy="463296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3794241" y="426720"/>
                <a:ext cx="2770909" cy="4632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003366"/>
                    </a:solidFill>
                  </a:rPr>
                  <a:t>INTERNSHIP/TERM PROJECT</a:t>
                </a:r>
                <a:endParaRPr lang="en-US" sz="1600" dirty="0"/>
              </a:p>
            </p:txBody>
          </p:sp>
        </p:grpSp>
        <p:sp>
          <p:nvSpPr>
            <p:cNvPr id="15" name="Shape 13"/>
            <p:cNvSpPr/>
            <p:nvPr/>
          </p:nvSpPr>
          <p:spPr>
            <a:xfrm>
              <a:off x="3533775" y="2687513"/>
              <a:ext cx="8168640" cy="502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394E0BD-D4FA-419D-AC66-F1E64F9FA301}"/>
                </a:ext>
              </a:extLst>
            </p:cNvPr>
            <p:cNvGrpSpPr/>
            <p:nvPr/>
          </p:nvGrpSpPr>
          <p:grpSpPr>
            <a:xfrm>
              <a:off x="44169" y="445008"/>
              <a:ext cx="3212862" cy="5547360"/>
              <a:chOff x="187044" y="292608"/>
              <a:chExt cx="3048000" cy="5376672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87044" y="3413760"/>
                <a:ext cx="3048000" cy="975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330" b="1" dirty="0">
                    <a:solidFill>
                      <a:srgbClr val="003366"/>
                    </a:solidFill>
                  </a:rPr>
                  <a:t>Indian Institute of Technology</a:t>
                </a:r>
                <a:r>
                  <a:rPr lang="en-US" sz="1330" dirty="0"/>
                  <a:t> </a:t>
                </a:r>
                <a:r>
                  <a:rPr lang="en-US" sz="1330" b="1" dirty="0">
                    <a:solidFill>
                      <a:srgbClr val="003366"/>
                    </a:solidFill>
                  </a:rPr>
                  <a:t>Guwahati</a:t>
                </a:r>
                <a:endParaRPr lang="en-US" sz="133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87044" y="4572000"/>
                <a:ext cx="30480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BSc. (Hons.) Data Science &amp; Artificial Intelligence</a:t>
                </a:r>
              </a:p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Online Degree Programme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64F0957D-3F23-4706-88FD-94B6648BF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098" y="292608"/>
                <a:ext cx="2879893" cy="2889504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A530B8-A3A2-4978-A35E-7D117B7D701A}"/>
              </a:ext>
            </a:extLst>
          </p:cNvPr>
          <p:cNvGrpSpPr/>
          <p:nvPr/>
        </p:nvGrpSpPr>
        <p:grpSpPr>
          <a:xfrm>
            <a:off x="3794241" y="2996670"/>
            <a:ext cx="8107680" cy="2760457"/>
            <a:chOff x="3637171" y="2996670"/>
            <a:chExt cx="8107680" cy="276045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7838290-E246-4CFE-9595-3A86F1A7A8C3}"/>
                </a:ext>
              </a:extLst>
            </p:cNvPr>
            <p:cNvGrpSpPr/>
            <p:nvPr/>
          </p:nvGrpSpPr>
          <p:grpSpPr>
            <a:xfrm>
              <a:off x="3637171" y="2996670"/>
              <a:ext cx="2316480" cy="2760456"/>
              <a:chOff x="3560971" y="2931943"/>
              <a:chExt cx="2316480" cy="2760456"/>
            </a:xfrm>
          </p:grpSpPr>
          <p:sp>
            <p:nvSpPr>
              <p:cNvPr id="18" name="Text 14"/>
              <p:cNvSpPr/>
              <p:nvPr/>
            </p:nvSpPr>
            <p:spPr>
              <a:xfrm>
                <a:off x="3560971" y="293194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Name :</a:t>
                </a:r>
                <a:endParaRPr lang="en-US" dirty="0"/>
              </a:p>
            </p:txBody>
          </p:sp>
          <p:sp>
            <p:nvSpPr>
              <p:cNvPr id="20" name="Text 16"/>
              <p:cNvSpPr/>
              <p:nvPr/>
            </p:nvSpPr>
            <p:spPr>
              <a:xfrm>
                <a:off x="3560971" y="332293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ID :</a:t>
                </a:r>
                <a:endParaRPr lang="en-US" dirty="0"/>
              </a:p>
            </p:txBody>
          </p:sp>
          <p:sp>
            <p:nvSpPr>
              <p:cNvPr id="22" name="Text 18"/>
              <p:cNvSpPr/>
              <p:nvPr/>
            </p:nvSpPr>
            <p:spPr>
              <a:xfrm>
                <a:off x="3560971" y="4104907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Programme :</a:t>
                </a:r>
                <a:endParaRPr lang="en-US" dirty="0"/>
              </a:p>
            </p:txBody>
          </p:sp>
          <p:sp>
            <p:nvSpPr>
              <p:cNvPr id="24" name="Text 20"/>
              <p:cNvSpPr/>
              <p:nvPr/>
            </p:nvSpPr>
            <p:spPr>
              <a:xfrm>
                <a:off x="3560971" y="4495895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Code :</a:t>
                </a:r>
                <a:endParaRPr lang="en-US" dirty="0"/>
              </a:p>
            </p:txBody>
          </p:sp>
          <p:sp>
            <p:nvSpPr>
              <p:cNvPr id="26" name="Text 22"/>
              <p:cNvSpPr/>
              <p:nvPr/>
            </p:nvSpPr>
            <p:spPr>
              <a:xfrm>
                <a:off x="3560971" y="488688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Name :</a:t>
                </a:r>
                <a:endParaRPr lang="en-US" dirty="0"/>
              </a:p>
            </p:txBody>
          </p:sp>
          <p:sp>
            <p:nvSpPr>
              <p:cNvPr id="28" name="Text 24"/>
              <p:cNvSpPr/>
              <p:nvPr/>
            </p:nvSpPr>
            <p:spPr>
              <a:xfrm>
                <a:off x="3560971" y="527787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Trimester :</a:t>
                </a:r>
                <a:endParaRPr lang="en-US" dirty="0"/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3144A76E-D519-41CC-9D78-E279B752AECC}"/>
                  </a:ext>
                </a:extLst>
              </p:cNvPr>
              <p:cNvSpPr/>
              <p:nvPr/>
            </p:nvSpPr>
            <p:spPr>
              <a:xfrm>
                <a:off x="3560971" y="3713919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Email ID :</a:t>
                </a:r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734901-5BF2-49C3-910A-97290AE0D4FF}"/>
                </a:ext>
              </a:extLst>
            </p:cNvPr>
            <p:cNvGrpSpPr/>
            <p:nvPr/>
          </p:nvGrpSpPr>
          <p:grpSpPr>
            <a:xfrm>
              <a:off x="6014611" y="2996671"/>
              <a:ext cx="5730240" cy="2760456"/>
              <a:chOff x="5938411" y="2924237"/>
              <a:chExt cx="5730240" cy="276045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5938411" y="292423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Ashutosh Yadav </a:t>
                </a:r>
                <a:endParaRPr lang="en-US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938411" y="331522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IN" b="1" dirty="0">
                    <a:solidFill>
                      <a:srgbClr val="FFFFFF"/>
                    </a:solidFill>
                  </a:rPr>
                  <a:t>23035010693</a:t>
                </a:r>
                <a:endParaRPr lang="en-US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938411" y="4097201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BSc. (Hons.) Data Science &amp; AI</a:t>
                </a:r>
                <a:endParaRPr lang="en-US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938411" y="4488189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DA278</a:t>
                </a:r>
                <a:endParaRPr lang="en-US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5938411" y="487917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DA 378 (Internship/Term Project-II</a:t>
                </a:r>
                <a:endParaRPr lang="en-US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938411" y="527016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VIII </a:t>
                </a:r>
                <a:endParaRPr lang="en-US" dirty="0"/>
              </a:p>
            </p:txBody>
          </p:sp>
          <p:sp>
            <p:nvSpPr>
              <p:cNvPr id="33" name="Text 17">
                <a:extLst>
                  <a:ext uri="{FF2B5EF4-FFF2-40B4-BE49-F238E27FC236}">
                    <a16:creationId xmlns:a16="http://schemas.microsoft.com/office/drawing/2014/main" id="{D9C22DD5-566E-4E5C-B5B7-EF56DE8DF892}"/>
                  </a:ext>
                </a:extLst>
              </p:cNvPr>
              <p:cNvSpPr/>
              <p:nvPr/>
            </p:nvSpPr>
            <p:spPr>
              <a:xfrm>
                <a:off x="5938411" y="3706213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Ashutosh.Yadav@op.iitg.ac.in</a:t>
                </a:r>
                <a:endParaRPr lang="en-US" dirty="0"/>
              </a:p>
            </p:txBody>
          </p:sp>
        </p:grpSp>
      </p:grpSp>
      <p:sp>
        <p:nvSpPr>
          <p:cNvPr id="29" name="Text 12"/>
          <p:cNvSpPr/>
          <p:nvPr/>
        </p:nvSpPr>
        <p:spPr>
          <a:xfrm>
            <a:off x="3560971" y="711756"/>
            <a:ext cx="8168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4000" b="1" dirty="0" err="1">
                <a:solidFill>
                  <a:srgbClr val="FFFFFF"/>
                </a:solidFill>
              </a:rPr>
              <a:t>PneumoFusionNet</a:t>
            </a:r>
            <a:br>
              <a:rPr lang="en-IN" sz="4000" b="1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0077B6"/>
                </a:solidFill>
              </a:rPr>
              <a:t>A Multimodal Deep Learning Framework for Pneumonia Detection</a:t>
            </a:r>
          </a:p>
          <a:p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292370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407"/>
    </mc:Choice>
    <mc:Fallback xmlns="">
      <p:transition spd="slow" advTm="634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Why do we need a multimodal approach?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657600" cy="493776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🫁  The Clinical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3438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rPr dirty="0"/>
              <a:t>• Pneumonia kills ~2.5M people/year (WHO)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rPr dirty="0"/>
              <a:t>• Chest X-ray = primary diagnostic tool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rPr dirty="0"/>
              <a:t>• Visual ambiguity: pneumonia, effusion,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rPr dirty="0"/>
              <a:t>  atelectasis look identical on CXR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rPr dirty="0"/>
              <a:t>• Radiologists disagree ~20% of cases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rPr dirty="0"/>
              <a:t>• AI models focus on image only —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rPr dirty="0"/>
              <a:t>  ignoring clinical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325880"/>
            <a:ext cx="3657600" cy="4937760"/>
          </a:xfrm>
          <a:prstGeom prst="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🔬  The Research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618488"/>
            <a:ext cx="3438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Existing models: image-only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Radiologists use: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  – Patient history &amp; symptoms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  – Lab results (WBC, CRP)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  – Written radiology reports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Adding report text introduces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LABEL LEAKAGE risk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Restricted clinical data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3840480" cy="4937760"/>
          </a:xfrm>
          <a:prstGeom prst="rect">
            <a:avLst/>
          </a:prstGeom>
          <a:solidFill>
            <a:srgbClr val="EDF7ED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✅  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618488"/>
            <a:ext cx="362102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PneumoFusionNet: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CXR image  →  ResNet50+DSC+GCSA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Report text →  Bio_ClinicalBERT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Fusion MLP for final diagnosis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Dataset: MIMIC-CXR (restricted)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377,110 radiographs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Full radiology reports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• Real clinical imbalance (5.6:1)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14"/>
    </mc:Choice>
    <mc:Fallback xmlns="">
      <p:transition spd="slow" advTm="8831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Pilot Architecture: ResNet50 + DSC + GCSA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Stage 0 — Custom image classification backbone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474720" cy="41148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1️⃣  ResNet50 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64208"/>
            <a:ext cx="325526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Pretrained on ImageNet (1.2M images)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Adapted for grayscale CXR input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(RGB weights averaged → 1 channel)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First 7 layers FROZEN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Output: 2048-channel feature map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Role: Extract general visual features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from chest X-ray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371600"/>
            <a:ext cx="3474720" cy="41148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2️⃣  Depthwise Separable Conv (DSC)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664208"/>
            <a:ext cx="325526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Compresses 2048 → 1024 channels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~50% fewer parameters vs standard conv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DSC(X) = BN(ReLU(W₁ₓ₁ * (W_dw ⊛ X)))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Depthwise conv: per-channel filtering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Pointwise 1×1: channel mixing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Role: Efficient feature compression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657600" cy="41148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3️⃣  Global Context Spatial Attn (GCSA)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664208"/>
            <a:ext cx="34381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Channel attention: WHAT to focus on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A_ch = σ(MLP(AvgPool) + MLP(MaxPool))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Spatial attention: WHERE to focus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A_sp = σ(Conv₇ₓ₇([AvgCh; MaxCh]))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Combined: X̂ = X · A_ch · A_sp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Role: Focus on lung pathology regions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744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744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5778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44"/>
                </a:solidFill>
                <a:latin typeface="Calibri"/>
              </a:rPr>
              <a:t>Final output: 1024-dimensional image feature vector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A62301-2051-379A-3895-B67190AE25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6" t="-5060" r="-1076" b="5060"/>
          <a:stretch>
            <a:fillRect/>
          </a:stretch>
        </p:blipFill>
        <p:spPr>
          <a:xfrm>
            <a:off x="0" y="98324"/>
            <a:ext cx="11877368" cy="6607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326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E2AF0-33FB-4A12-F35A-53A1ACB39B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58" r="26547" b="1505"/>
          <a:stretch>
            <a:fillRect/>
          </a:stretch>
        </p:blipFill>
        <p:spPr>
          <a:xfrm>
            <a:off x="12142" y="285135"/>
            <a:ext cx="8935213" cy="646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2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Stage 0: Public Dataset Results + Dataset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Validation on Kaggle &amp; IU → Why MIMIC-CXR?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📊  Stage 0 Results on Public Datasets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5486400" cy="320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74650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74650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4650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74650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54864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5599"/>
                </a:solidFill>
                <a:latin typeface="Calibri"/>
              </a:rPr>
              <a:t>v1_Basic_Image_Model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Kaggle CXR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Sanity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~92% Acc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6032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5599"/>
                </a:solidFill>
                <a:latin typeface="Calibri"/>
              </a:rPr>
              <a:t>v2_Enhanced_GCSA_DSC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Kaggle CXR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DSC+GCSA valid.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92% Acc, F1=0.91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017520"/>
            <a:ext cx="54864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063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5599"/>
                </a:solidFill>
                <a:latin typeface="Calibri"/>
              </a:rPr>
              <a:t>v3-1-iu-multimodal-image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063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IU X-Ray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063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Image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063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Pipeline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7472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520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5599"/>
                </a:solidFill>
                <a:latin typeface="Calibri"/>
              </a:rPr>
              <a:t>v3-2-iu-multimodal-text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520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IU X-Ray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520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Image+text e2e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520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Pipeline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05072"/>
            <a:ext cx="5486400" cy="822960"/>
          </a:xfrm>
          <a:prstGeom prst="rect">
            <a:avLst/>
          </a:prstGeom>
          <a:solidFill>
            <a:srgbClr val="FFF8ED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" y="4297680"/>
            <a:ext cx="5266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⚠ 92% on Kaggle = code correct, NOT clinical readiness.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Pre-cleaned, balanced Kaggle ≠ real hospital data.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325880"/>
            <a:ext cx="5852160" cy="50292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1371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🔍  Why MIMIC-CXR?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1618488"/>
            <a:ext cx="563270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Need 3 modalities simultaneously: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1. Chest X-ray images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2. Clinical data (symptoms, labs)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3. Radiology reports (FINDINGS + IMPRESSION)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Evaluated: Kaggle ✗  IU X-Ray ✗  NIH ✗  CheXpert ✗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MIMIC-CXR-JPG v2.0.0  ✅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• 377,110 radiographs, 65,379 patients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• Paired images + full radiology reports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• Real 5.6:1 class imbalance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• Mixed PA/AP/Lateral views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🔒  Access: CITI training + PhysioNet DUA required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 Not publicly downloadable</a:t>
            </a:r>
          </a:p>
        </p:txBody>
      </p:sp>
      <p:pic>
        <p:nvPicPr>
          <p:cNvPr id="41" name="Camera 40">
            <a:extLst>
              <a:ext uri="{FF2B5EF4-FFF2-40B4-BE49-F238E27FC236}">
                <a16:creationId xmlns:a16="http://schemas.microsoft.com/office/drawing/2014/main" id="{D4CC2EEF-B80D-5066-7462-4274CB8D5A5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Anti-Leakage Pipeline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The critical design decision that makes multimodal training valid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029200" cy="2926080"/>
          </a:xfrm>
          <a:prstGeom prst="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⚠  What is Label Leakage?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48097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Every radiology report has an IMPRESSION section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containing the radiologist's final diagnosis.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If the model reads IMPRESSION during training,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it memorises the ANSWER instead of learning!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✅  INDICATION: Patient with fever, cough → KEPT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✅  FINDINGS: Consolidation in left lower lobe → KEPT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❌  IMPRESSION: Pneumonia confirmed. → STRIPPED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43400"/>
            <a:ext cx="5029200" cy="1920240"/>
          </a:xfrm>
          <a:prstGeom prst="rect">
            <a:avLst/>
          </a:prstGeom>
          <a:solidFill>
            <a:srgbClr val="EDF7ED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🔧  rebuild_dataset_findings.py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636008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1. Parse report into named sections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2. RETAIN: INDICATION + FINDINGS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3. STRIP:  IMPRESSION + CONCLUSION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4. Export leakage-free CSV for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Phase 1 — Image Branch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691640"/>
            <a:ext cx="2651760" cy="502920"/>
          </a:xfrm>
          <a:prstGeom prst="rect">
            <a:avLst/>
          </a:prstGeom>
          <a:solidFill>
            <a:srgbClr val="E8F4FD"/>
          </a:solidFill>
          <a:ln w="1524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0" y="1764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CXR Image (PA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350008"/>
            <a:ext cx="2651760" cy="502920"/>
          </a:xfrm>
          <a:prstGeom prst="rect">
            <a:avLst/>
          </a:prstGeom>
          <a:solidFill>
            <a:srgbClr val="E8F4FD"/>
          </a:solidFill>
          <a:ln w="1524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0" y="2423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ResNet50 Backbone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5292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008376"/>
            <a:ext cx="2651760" cy="502920"/>
          </a:xfrm>
          <a:prstGeom prst="rect">
            <a:avLst/>
          </a:prstGeom>
          <a:solidFill>
            <a:srgbClr val="E8F4FD"/>
          </a:solidFill>
          <a:ln w="1524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0" y="3081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DSC: 2048→1024 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51129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666744"/>
            <a:ext cx="2651760" cy="502920"/>
          </a:xfrm>
          <a:prstGeom prst="rect">
            <a:avLst/>
          </a:prstGeom>
          <a:solidFill>
            <a:srgbClr val="E8F4FD"/>
          </a:solidFill>
          <a:ln w="1524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5000" y="37398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GCSA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6966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325112"/>
            <a:ext cx="2651760" cy="502920"/>
          </a:xfrm>
          <a:prstGeom prst="rect">
            <a:avLst/>
          </a:prstGeom>
          <a:solidFill>
            <a:srgbClr val="EDF7ED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15000" y="43982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1024-d Vector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988"/>
                </a:solidFill>
                <a:latin typeface="Calibri"/>
              </a:rPr>
              <a:t>Phase 2 — Text Branch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1691640"/>
            <a:ext cx="2651760" cy="502920"/>
          </a:xfrm>
          <a:prstGeom prst="rect">
            <a:avLst/>
          </a:prstGeom>
          <a:solidFill>
            <a:srgbClr val="E0F7F4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32520" y="1764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Report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19456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350008"/>
            <a:ext cx="2651760" cy="502920"/>
          </a:xfrm>
          <a:prstGeom prst="rect">
            <a:avLst/>
          </a:prstGeom>
          <a:solidFill>
            <a:srgbClr val="FDEDED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2423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Strip IMPRESSION 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85292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3008376"/>
            <a:ext cx="2651760" cy="502920"/>
          </a:xfrm>
          <a:prstGeom prst="rect">
            <a:avLst/>
          </a:prstGeom>
          <a:solidFill>
            <a:srgbClr val="E0F7F4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32520" y="3081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Bio_ClinicalBERT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51129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3666744"/>
            <a:ext cx="2651760" cy="502920"/>
          </a:xfrm>
          <a:prstGeom prst="rect">
            <a:avLst/>
          </a:prstGeom>
          <a:solidFill>
            <a:srgbClr val="EDF7ED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32520" y="37398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768-d Vector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6035040"/>
            <a:ext cx="5669280" cy="530352"/>
          </a:xfrm>
          <a:prstGeom prst="rect">
            <a:avLst/>
          </a:prstGeom>
          <a:solidFill>
            <a:srgbClr val="1A2744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60720" y="608076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Concat [1024 + 768 = 1792-d]  →  Fusion MLP  →  Normal / Pneumonia</a:t>
            </a:r>
          </a:p>
        </p:txBody>
      </p:sp>
      <p:pic>
        <p:nvPicPr>
          <p:cNvPr id="44" name="Camera 43">
            <a:extLst>
              <a:ext uri="{FF2B5EF4-FFF2-40B4-BE49-F238E27FC236}">
                <a16:creationId xmlns:a16="http://schemas.microsoft.com/office/drawing/2014/main" id="{0B9B626F-8275-4DC4-45FF-41E2F564B55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Stage 1: MIMIC-CXR Pilot Study — 139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Four phases of systematic experimentation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4389120" cy="18288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📁  Pilot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4169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139 samples (118 Normal, 21 Pneumonia)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Class imbalance: 5.6:1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All views: PA, AP, Lateral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Split: 97 train / 21 val / 21 test (70/15/15)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325880"/>
            <a:ext cx="694944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📊  Four-Phase Pilot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755648"/>
            <a:ext cx="694944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17647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7647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647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7647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17647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121408"/>
            <a:ext cx="694944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2185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185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Image only, imbalanced (118:21)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85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0.667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185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76.2%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185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0.430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596896"/>
            <a:ext cx="6949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2660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1.1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660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Image only, balanced (21:21)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60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0.917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660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85.7%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2660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0.857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3072384"/>
            <a:ext cx="6949440" cy="457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3136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136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Image+Text, imbalanced (118:21)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36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0.704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136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81.0%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3136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0.447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3547872"/>
            <a:ext cx="6949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80" y="3611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2.1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611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Image+Text, balanced (21:21)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611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0.917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611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71.4%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3611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0.708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4023360"/>
            <a:ext cx="6949440" cy="402336"/>
          </a:xfrm>
          <a:prstGeom prst="rect">
            <a:avLst/>
          </a:prstGeom>
          <a:solidFill>
            <a:srgbClr val="CC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83480" y="4069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Leakage-free gain (Ph.2 vs Ph.1, imbalanced):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069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+0.037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069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+4.8%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4069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+0.017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246120"/>
            <a:ext cx="4389120" cy="2468880"/>
          </a:xfrm>
          <a:prstGeom prst="rect">
            <a:avLst/>
          </a:prstGeom>
          <a:solidFill>
            <a:srgbClr val="EDF7ED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2918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💡  Key Finding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3538728"/>
            <a:ext cx="41696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Adding LEAKAGE-FREE text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(FINDINGS + INDICATION only)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improved AUC by +3.7%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on the realistic imbalanced split.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IMPRESSION was NEVER shown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to the model during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Statistical Honesty: The N=7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Why 0.917 AUC means nothing — and why we must scale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486400" cy="2011680"/>
          </a:xfrm>
          <a:prstGeom prst="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🔢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52669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Balanced test set had exactly 7 samples.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ONE misclassification = 14.28% accuracy swing.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95% CI formula:  CI = p ± 1.96 × √(p(1-p)/N)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29000"/>
            <a:ext cx="5486400" cy="2743200"/>
          </a:xfrm>
          <a:prstGeom prst="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📉  Confidence Intervals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721608"/>
            <a:ext cx="52669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Phase 1.1 (Image only, balanced):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AUC reported: 0.917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Accuracy: 85.7% ± 25.9%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95% CI: [59.8%, 100%]  ← HUGE range!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Phase 2.1 (Image+Text, balanced):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Accuracy: 71.4% ± 33.5%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95% CI: [38.0%, 100%]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Fisher's Exact Test: p ≈ 1.000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→ Difference is STATISTICALLY INSIGNIFICANT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25880"/>
            <a:ext cx="5943600" cy="48463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13716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📌  What This 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618488"/>
            <a:ext cx="57241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AUC = 0.917  on  N = 7  samples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is STATISTICALLY MEANINGLESS.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The honest answer requires scaling up to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 proper clinical test set (N ≥ 200+).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This is not a failure — it is scientific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rigour. Documenting this gap is one of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the most important contributions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of Part 1.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→  SOLUTION: Scale up to 1,989 PA-only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 images with patient-level splits.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Stage 2: Scale-Up — Architecture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1,989 PA-only images, patient-level splits → AUC drops to 0.713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4389120" cy="25603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📁  Scale-Up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416966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1,989 PA-only images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(1,062 Normal + 927 Pneumonia)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PA-only: eliminates view-type confound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Patient-level GroupShuffleSplit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by subject_id (zero patient overlap)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• 1,401 train / 295 val / 293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325880"/>
            <a:ext cx="69494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❌  Pilot Architecture at Scale —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755648"/>
            <a:ext cx="694944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1764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64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Pilot (N=7)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64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Scale-Up (N=293)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139696"/>
            <a:ext cx="694944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2203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AUC-ROC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03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0.917  (unreliable)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03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0.713  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596896"/>
            <a:ext cx="6949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3480" y="26609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6609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85.7%  (unreliable)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609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66.2%  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054096"/>
            <a:ext cx="694944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69.9%  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511296"/>
            <a:ext cx="6949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3575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Specificity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575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575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63.5%  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968496"/>
            <a:ext cx="694944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40325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F1 (macro)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0325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0.857  (unreliable)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0325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0.660  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446227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Confusion Matrix (N=293): TN=108, FP=62, FN=37, TP=86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977639"/>
            <a:ext cx="4389120" cy="2286000"/>
          </a:xfrm>
          <a:prstGeom prst="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02335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🔍  Root Cause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270247"/>
            <a:ext cx="416966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1. ImageNet domain mismatch</a:t>
            </a:r>
          </a:p>
          <a:p>
            <a:pPr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   Natural images ≠ chest X-ray pathology</a:t>
            </a:r>
          </a:p>
          <a:p>
            <a:pPr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2. Insufficient training data (1,401 imgs)</a:t>
            </a:r>
          </a:p>
          <a:p>
            <a:pPr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   Cannot override ImageNet representations</a:t>
            </a:r>
          </a:p>
          <a:p>
            <a:pPr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3. Clinical data complexity</a:t>
            </a:r>
          </a:p>
          <a:p>
            <a:pPr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   Devices, overlapping anatomy, varied exposure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Findings — Part 1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Four critical lessons from the MIMIC-CXR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697480" cy="4846320"/>
          </a:xfrm>
          <a:prstGeom prst="rect">
            <a:avLst/>
          </a:prstGeom>
          <a:solidFill>
            <a:srgbClr val="FDEDE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0" y="1371600"/>
            <a:ext cx="6858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3898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Calibri"/>
              </a:rPr>
              <a:t>Public ≠ Clinical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9748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92% on Kaggle → 66.2% on MIMIC-CXR.
Public benchmarks give dangerously false confidence.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325880"/>
            <a:ext cx="2697480" cy="4846320"/>
          </a:xfrm>
          <a:prstGeom prst="rect">
            <a:avLst/>
          </a:prstGeom>
          <a:solidFill>
            <a:srgbClr val="EDF7ED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6858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3898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0574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  <a:latin typeface="Calibri"/>
              </a:rPr>
              <a:t>Anti-Leakage Text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9748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+3.7% AUC from FINDINGS+INDICATION.
Stripping IMPRESSION was essential — and it worked.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2697480" cy="4846320"/>
          </a:xfrm>
          <a:prstGeom prst="rect">
            <a:avLst/>
          </a:prstGeom>
          <a:solidFill>
            <a:srgbClr val="FFF8ED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23760" y="1371600"/>
            <a:ext cx="685800" cy="54864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13898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574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35400"/>
                </a:solidFill>
                <a:latin typeface="Calibri"/>
              </a:rPr>
              <a:t>N=7 is Meaningless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9748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AUC=0.917 on 7 samples has CI=[59.8%, 100%].
The honest N=293 answer is AUC=0.713.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325880"/>
            <a:ext cx="2697480" cy="4846320"/>
          </a:xfrm>
          <a:prstGeom prst="rect">
            <a:avLst/>
          </a:prstGeom>
          <a:solidFill>
            <a:srgbClr val="E8F4FD"/>
          </a:solidFill>
          <a:ln w="25400"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195560" y="1371600"/>
            <a:ext cx="68580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60" y="13898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0574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744"/>
                </a:solidFill>
                <a:latin typeface="Calibri"/>
              </a:rPr>
              <a:t>Architecture Must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9748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ResNet50+DSC+GCSA fails at clinical scale.
ImageNet pretraining fundamentally mismatched for CXR.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 &amp; Part 2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7B6"/>
                </a:solidFill>
                <a:latin typeface="Calibri"/>
              </a:rPr>
              <a:t>The pivot to DenseNet-121 — solving the domain mismatch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PneumoFusionNet  |  IIT Guwahati  |  Ashutosh Yadav (23035010693)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303520" cy="237744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✅  Part 1 Delivered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50840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1. Anti-leakage data pipeline (100% leakage-free)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2. Proof: public results ≠ clinical performance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3. Honest failure: AUC=0.713 at N=293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4. Root cause: ImageNet domain mismatch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5. Statistical rigour: CI analysis, Fisher's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94760"/>
            <a:ext cx="5303520" cy="2606040"/>
          </a:xfrm>
          <a:prstGeom prst="rect">
            <a:avLst/>
          </a:prstGeom>
          <a:solidFill>
            <a:srgbClr val="EDF7ED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🚀  Part 2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087368"/>
            <a:ext cx="508406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1. DenseNet-121 (torchxrayvision)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 Pretrained on &gt;500K real CXRs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   → Directly fixes domain mismatch!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2. Scale to 1,989+ PA images, patient splits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3. Bio_ClinicalBERT + cross-attention fusion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4. MIMIC-IV lab values (WBC, CRP, PCT)</a:t>
            </a:r>
          </a:p>
          <a:p>
            <a:pPr>
              <a:spcAft>
                <a:spcPts val="2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5. 5-fold GroupKFold cross-validation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325880"/>
            <a:ext cx="6035040" cy="5074920"/>
          </a:xfrm>
          <a:prstGeom prst="rect">
            <a:avLst/>
          </a:prstGeom>
          <a:solidFill>
            <a:srgbClr val="1A2F55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13716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B6"/>
                </a:solidFill>
                <a:latin typeface="Calibri"/>
              </a:rPr>
              <a:t>🏥  Why DenseNet-121?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1618488"/>
            <a:ext cx="581558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ResNet50 (ImageNet pretrained):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Trained on: cats, dogs, cars, furniture...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AUC on MIMIC-CXR: 0.713  ❌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DenseNet-121 (torchxrayvision):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Trained on: CheXpert + NIH ChestX-ray14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          + MIMIC-CXR (&gt;500,000 CXRs!)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Every weight learned from real X-rays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Expected AUC: ~0.85+  ✅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Dense connections = better gradient flow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for medical imaging feature reuse.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This is the ONLY fix for domain mismatch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without 10× more training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Words>3126</Words>
  <Application>Microsoft Office PowerPoint</Application>
  <PresentationFormat>Custom</PresentationFormat>
  <Paragraphs>395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Ashutosh Yadav</cp:lastModifiedBy>
  <cp:revision>6</cp:revision>
  <dcterms:created xsi:type="dcterms:W3CDTF">2013-01-27T09:14:16Z</dcterms:created>
  <dcterms:modified xsi:type="dcterms:W3CDTF">2026-08-03T16:16:07Z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2026-07-11T07:37:26Z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a08bec94-3764-4f0b-ae13-ca92b5c0146f</vt:lpwstr>
  </property>
  <property fmtid="{D5CDD505-2E9C-101B-9397-08002B2CF9AE}" pid="7" name="MSIP_Label_defa4170-0d19-0005-0004-bc88714345d2_ActionId">
    <vt:lpwstr>803ab79b-591a-455d-b5b1-c3db81d464a0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