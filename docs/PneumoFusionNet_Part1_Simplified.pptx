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0">
                <a:solidFill>
                  <a:srgbClr val="FFFFFF"/>
                </a:solidFill>
              </a:rPr>
              <a:t>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PneumoFusionNet
Part 1: Explainable Multimodal Deep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0E5FF"/>
                </a:solidFill>
              </a:rPr>
              <a:t>Ashutosh Yadav  |  IIT Guwahati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BD5E0"/>
                </a:solidFill>
              </a:rPr>
              <a:t>Instead of just throwing numbers at you, let's look at exactly HOW we built an AI
that thinks more like a doctor—combining X-ray images with clinical notes.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E5FF"/>
                </a:solidFill>
              </a:rPr>
              <a:t>The Two Big Problems in AI Radiology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4572000" cy="36576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E5FF"/>
                </a:solidFill>
              </a:rPr>
              <a:t>1. Visual Ambiguity
(The Image Problem)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4206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</a:rPr>
              <a:t>A hazy patch on an X-ray could be: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</a:rPr>
              <a:t>• Pneumonia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</a:rPr>
              <a:t>• Atelectasis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</a:rPr>
              <a:t>• Fluid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</a:rPr>
              <a:t>Doctors don't guess—they ask: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</a:rPr>
              <a:t>'Does the patient have a fever?'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</a:rPr>
              <a:t>Image-only AI is forced to guess.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828800"/>
            <a:ext cx="4572000" cy="3657600"/>
          </a:xfrm>
          <a:prstGeom prst="rect">
            <a:avLst/>
          </a:prstGeom>
          <a:solidFill>
            <a:srgbClr val="5A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01168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67E22"/>
                </a:solidFill>
              </a:rPr>
              <a:t>2. Label Leakage
(The Text Problem)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926080"/>
            <a:ext cx="4206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</a:rPr>
              <a:t>Radiology reports always end with the answer: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</a:rPr>
              <a:t>IMPRESSION: Pneumonia.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</a:rPr>
              <a:t>Most multimodal AI reads this line and cheats.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</a:rPr>
              <a:t>It's not diagnosing, it's just reading the answer key.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E5FF"/>
                </a:solidFill>
              </a:rPr>
              <a:t>The Solution: Anti-Leakage Text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0" y="1371600"/>
            <a:ext cx="4873752" cy="548640"/>
          </a:xfrm>
          <a:prstGeom prst="rect">
            <a:avLst/>
          </a:prstGeom>
          <a:solidFill>
            <a:srgbClr val="1A5276"/>
          </a:solidFill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[ Raw Radiology Report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32704" y="20116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E5FF"/>
                </a:solidFill>
              </a:rPr>
              <a:t>↓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2560320"/>
            <a:ext cx="7616952" cy="18288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28346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</a:rPr>
              <a:t>INDICATION: 45M, 3-day fever              → [ KEEP ] 🟢 (Context)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</a:rPr>
              <a:t>FINDINGS: Opacity in lower lobe             → [ KEEP ] 🟢 (Evidence)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</a:rPr>
              <a:t>IMPRESSION: PNEUMONIA                  → [ STRIP ] 🔴 (The Answer!)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32704" y="44805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E5FF"/>
                </a:solidFill>
              </a:rPr>
              <a:t>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5029200"/>
            <a:ext cx="4873752" cy="548640"/>
          </a:xfrm>
          <a:prstGeom prst="rect">
            <a:avLst/>
          </a:prstGeom>
          <a:solidFill>
            <a:srgbClr val="1A5276"/>
          </a:solidFill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[ Filtered Text (No Spoilers)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32704" y="56692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E5FF"/>
                </a:solidFill>
              </a:rP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6217920"/>
            <a:ext cx="4873752" cy="548640"/>
          </a:xfrm>
          <a:prstGeom prst="rect">
            <a:avLst/>
          </a:prstGeom>
          <a:solidFill>
            <a:srgbClr val="00E5FF"/>
          </a:solidFill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[ Bio_ClinicalBERT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217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0"/>
                </a:solidFill>
              </a:rPr>
              <a:t>The model learns to connect symptoms and visual evidence to the disease—without seeing the final answer.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E5FF"/>
                </a:solidFill>
              </a:rPr>
              <a:t>Why we needed DenseNet (The Architecture Shift)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4572000" cy="3657600"/>
          </a:xfrm>
          <a:prstGeom prst="rect">
            <a:avLst/>
          </a:prstGeom>
          <a:solidFill>
            <a:srgbClr val="5A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67E22"/>
                </a:solidFill>
              </a:rPr>
              <a:t>Path 1 (Failed): ResNet50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4206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</a:rPr>
              <a:t>Pretrained on ImageNet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</a:rPr>
              <a:t>(Cats, Dogs, Cars).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</a:rPr>
              <a:t>Result on 1,989 X-rays: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</a:rPr>
              <a:t>Failed completely (AUC 0.71).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</a:rPr>
              <a:t>It couldn't understand X-ray textures, no matter how much we trained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828800"/>
            <a:ext cx="4572000" cy="3657600"/>
          </a:xfrm>
          <a:prstGeom prst="rect">
            <a:avLst/>
          </a:prstGeom>
          <a:solidFill>
            <a:srgbClr val="1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01168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ECC71"/>
                </a:solidFill>
              </a:rPr>
              <a:t>Path 2 (Success): DenseNet-121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560320"/>
            <a:ext cx="4206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</a:rPr>
              <a:t>Pretrained on 500,000+ real Chest X-rays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</a:rPr>
              <a:t>(CheXpert, MIMIC).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</a:rPr>
              <a:t>Result on 1,989 X-rays: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</a:rPr>
              <a:t>AUC 0.864.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</a:rPr>
              <a:t>It already 'understands' lung anatomy before we even start training.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E5FF"/>
                </a:solidFill>
              </a:rPr>
              <a:t>How the Image Model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1371600"/>
            <a:ext cx="3657600" cy="6400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1463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Chest X-Ray (PA View Only)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BD5E0"/>
                </a:solidFill>
              </a:rPr>
              <a:t>Using PA (frontal) only ensures the model doesn't cheat by looking at patient posture.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0574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E5FF"/>
                </a:solidFill>
              </a:rPr>
              <a:t>↓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2468880"/>
            <a:ext cx="3657600" cy="6400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2560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CLAHE Preprocessing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560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BD5E0"/>
                </a:solidFill>
              </a:rPr>
              <a:t>Enhances contrast so bones and tissues are clearly separated.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1546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E5FF"/>
                </a:solidFill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3566160"/>
            <a:ext cx="3657600" cy="6400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0240" y="3657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DenseNet-121 Backbone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BD5E0"/>
                </a:solidFill>
              </a:rPr>
              <a:t>Extracts deep clinical features from the lung textures.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2519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E5FF"/>
                </a:solidFill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4663440"/>
            <a:ext cx="3657600" cy="6400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20240" y="4754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CBAM Attention Module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754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BD5E0"/>
                </a:solidFill>
              </a:rPr>
              <a:t>Acts like a magnifying glass. Tells the model WHERE to look (spatial focus).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53492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E5FF"/>
                </a:solidFill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5760720"/>
            <a:ext cx="3657600" cy="6400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20240" y="5852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1B2A"/>
                </a:solidFill>
              </a:rPr>
              <a:t>1024-Dimension Feature Vector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5852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BD5E0"/>
                </a:solidFill>
              </a:rPr>
              <a:t>The final mathematical representation of the image.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E5FF"/>
                </a:solidFill>
              </a:rPr>
              <a:t>Multimodal Fusion: How Image &amp; Text Combine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1371600"/>
            <a:ext cx="3200400" cy="73152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371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Image Vector
(DenseNet+CBAM)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1371600"/>
            <a:ext cx="3200400" cy="73152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371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Text Vector
(Symptoms/History)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1945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E5FF"/>
                </a:solidFill>
              </a:rPr>
              <a:t>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1945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E5FF"/>
                </a:solidFill>
              </a:rPr>
              <a:t>↙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2743200"/>
            <a:ext cx="5486400" cy="1097280"/>
          </a:xfrm>
          <a:prstGeom prst="rect">
            <a:avLst/>
          </a:prstGeom>
          <a:solidFill>
            <a:srgbClr val="1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2926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ECC71"/>
                </a:solidFill>
              </a:rPr>
              <a:t>Cross-Attention Module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383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(Image asks Text: 'I see a haze, do they have a fever?')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3931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E5FF"/>
                </a:solidFill>
              </a:rPr>
              <a:t>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4480560"/>
            <a:ext cx="4572000" cy="7315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Focal Loss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937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(Forces model to focus on hard-to-diagnose cases)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53035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E5FF"/>
                </a:solidFill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5943600"/>
            <a:ext cx="4572000" cy="7315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0" y="60350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</a:rPr>
              <a:t>Final Diagnosis: Normal / Pneumonia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E5FF"/>
                </a:solidFill>
              </a:rPr>
              <a:t>The Data Journey: Why Scale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3291840" cy="10972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E5FF"/>
                </a:solidFill>
              </a:rPr>
              <a:t>Stage 0 (Kaggle)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92% Accuracy. But it's pre-cleaned and easy. Not real life.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291840"/>
            <a:ext cx="5486400" cy="10972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E5FF"/>
                </a:solidFill>
              </a:rPr>
              <a:t>Stage 1 (Pilot)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49039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139 MIMIC samples. Too small. One wrong prediction swings accuracy by 14%. Statistically meaningless.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754880"/>
            <a:ext cx="8412480" cy="10972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846320"/>
            <a:ext cx="8046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E5FF"/>
                </a:solidFill>
              </a:rPr>
              <a:t>Stage 2/3 (Scale-Up)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212080"/>
            <a:ext cx="80467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1,989 MIMIC samples. Patient-level splits (zero overlap). Finally, robust results we can trust.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E5FF"/>
                </a:solidFill>
              </a:rPr>
              <a:t>The Image-Only Ceiling (Results)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BD5E0"/>
                </a:solidFill>
              </a:rPr>
              <a:t>No matter how much we tuned the image-only model, it maxed out at ~0.86 AUC.
It simply didn't have enough information to distinguish pneumonia from other lung issues without clinical context.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3200400"/>
            <a:ext cx="5486400" cy="7315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33375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Image-Only Max (DenseNet)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3337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67E22"/>
                </a:solidFill>
              </a:rPr>
              <a:t>AUC 0.864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4389120"/>
            <a:ext cx="7315200" cy="73152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4526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E5FF"/>
                </a:solidFill>
              </a:rPr>
              <a:t>Clinical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4526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E5FF"/>
                </a:solidFill>
              </a:rPr>
              <a:t>AUC 0.900+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E5FF"/>
                </a:solidFill>
              </a:rPr>
              <a:t>The Multimodal Breakthrough (Results)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BD5E0"/>
                </a:solidFill>
              </a:rPr>
              <a:t>Adding leakage-free text pushed us past the ceiling. Upgrading to Cross-Attention and unfreezing BERT boosted our ability to catch sick patients (Sensitivity).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743200"/>
            <a:ext cx="3200400" cy="2286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Image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67E22"/>
                </a:solidFill>
              </a:rPr>
              <a:t>AUC
0.864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Sensitivity: 76.4%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2743200"/>
            <a:ext cx="3200400" cy="2286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9260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E5FF"/>
                </a:solidFill>
              </a:rPr>
              <a:t>Fusion v1
(Simple Concat)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6576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E5FF"/>
                </a:solidFill>
              </a:rPr>
              <a:t>AUC
0.911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4572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Sensitivity: 80.6%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2743200"/>
            <a:ext cx="3200400" cy="2286000"/>
          </a:xfrm>
          <a:prstGeom prst="rect">
            <a:avLst/>
          </a:prstGeom>
          <a:solidFill>
            <a:srgbClr val="1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29260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ECC71"/>
                </a:solidFill>
              </a:rPr>
              <a:t>Fusion v2 🏆
(Cross-Attention)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6576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2ECC71"/>
                </a:solidFill>
              </a:rPr>
              <a:t>AUC
0.949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572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Sensitivity: 91.4%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E5FF"/>
                </a:solidFill>
              </a:rPr>
              <a:t>Explainability: Grad-CAM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1828800"/>
            <a:ext cx="5788152" cy="32004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3200400"/>
            <a:ext cx="5788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BD5E0"/>
                </a:solidFill>
              </a:rPr>
              <a:t>[ Insert Grad-CAM Heatmap Image Here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486400"/>
            <a:ext cx="9445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0E5FF"/>
                </a:solidFill>
              </a:rPr>
              <a:t>The model isn't a black box. Grad-CAM heatmaps highlight exactly which lobe of the lung the DenseNet+CBAM architecture focused on to make its decision, building clinical trust.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E5FF"/>
                </a:solidFill>
              </a:rPr>
              <a:t>Conclusion &amp; Part 2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4754880" cy="4572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E5FF"/>
                </a:solidFill>
              </a:rPr>
              <a:t>What We Proved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</a:rPr>
              <a:t>1. Text fusion works without cheating (IMPRESSION stripped).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</a:rPr>
              <a:t>2. X-ray specific pretraining is mandatory (ImageNet fails).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</a:rPr>
              <a:t>3. Cross-attention fusion mimics clinical reasoning better than simple concatenation.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371600"/>
            <a:ext cx="4754880" cy="4572000"/>
          </a:xfrm>
          <a:prstGeom prst="rect">
            <a:avLst/>
          </a:prstGeom>
          <a:solidFill>
            <a:srgbClr val="1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ECC71"/>
                </a:solidFill>
              </a:rPr>
              <a:t>What's Next (Part 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</a:rPr>
              <a:t>• Scale to 5,000+ images.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</a:rPr>
              <a:t>• Add 3rd Modality: MIMIC-IV Lab Values (WBC, CRP).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</a:rPr>
              <a:t>• Validate on external hospitals (NIH/CheXpert).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217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BD5E0"/>
                </a:solidFill>
              </a:rPr>
              <a:t>Code: github.com/Ashutosh-yadav0001/PneumoFusionNet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